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libri (MS) Bold" charset="1" panose="020F0702030404030204"/>
      <p:regular r:id="rId14"/>
    </p:embeddedFont>
    <p:embeddedFont>
      <p:font typeface="Cambria Bold" charset="1" panose="02040803050406030204"/>
      <p:regular r:id="rId15"/>
    </p:embeddedFont>
    <p:embeddedFont>
      <p:font typeface="Calibri (MS) Italics" charset="1" panose="020F05020202040A0204"/>
      <p:regular r:id="rId16"/>
    </p:embeddedFont>
    <p:embeddedFont>
      <p:font typeface="Calibri (MS)" charset="1" panose="020F050202020403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35840" y="0"/>
            <a:ext cx="5852160" cy="10287000"/>
            <a:chOff x="0" y="0"/>
            <a:chExt cx="780288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0288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162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402336" cy="10287000"/>
            <a:chOff x="0" y="0"/>
            <a:chExt cx="536448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644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679424" y="768096"/>
            <a:ext cx="219456" cy="219456"/>
            <a:chOff x="0" y="0"/>
            <a:chExt cx="292608" cy="2926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740128" y="768096"/>
            <a:ext cx="219456" cy="219456"/>
            <a:chOff x="0" y="0"/>
            <a:chExt cx="292608" cy="2926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800832" y="768096"/>
            <a:ext cx="219456" cy="219456"/>
            <a:chOff x="0" y="0"/>
            <a:chExt cx="292608" cy="2926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861536" y="768096"/>
            <a:ext cx="219456" cy="219456"/>
            <a:chOff x="0" y="0"/>
            <a:chExt cx="292608" cy="2926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679424" y="2084832"/>
            <a:ext cx="219456" cy="219456"/>
            <a:chOff x="0" y="0"/>
            <a:chExt cx="292608" cy="2926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740128" y="2084832"/>
            <a:ext cx="219456" cy="219456"/>
            <a:chOff x="0" y="0"/>
            <a:chExt cx="292608" cy="2926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800832" y="2084832"/>
            <a:ext cx="219456" cy="219456"/>
            <a:chOff x="0" y="0"/>
            <a:chExt cx="292608" cy="2926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861536" y="2084832"/>
            <a:ext cx="219456" cy="219456"/>
            <a:chOff x="0" y="0"/>
            <a:chExt cx="292608" cy="2926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679424" y="3401568"/>
            <a:ext cx="219456" cy="219456"/>
            <a:chOff x="0" y="0"/>
            <a:chExt cx="292608" cy="2926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740128" y="3401568"/>
            <a:ext cx="219456" cy="219456"/>
            <a:chOff x="0" y="0"/>
            <a:chExt cx="292608" cy="2926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800832" y="3401568"/>
            <a:ext cx="219456" cy="219456"/>
            <a:chOff x="0" y="0"/>
            <a:chExt cx="292608" cy="2926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861536" y="3401568"/>
            <a:ext cx="219456" cy="219456"/>
            <a:chOff x="0" y="0"/>
            <a:chExt cx="292608" cy="2926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679424" y="4718304"/>
            <a:ext cx="219456" cy="219456"/>
            <a:chOff x="0" y="0"/>
            <a:chExt cx="292608" cy="2926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740128" y="4718304"/>
            <a:ext cx="219456" cy="219456"/>
            <a:chOff x="0" y="0"/>
            <a:chExt cx="292608" cy="2926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800832" y="4718304"/>
            <a:ext cx="219456" cy="219456"/>
            <a:chOff x="0" y="0"/>
            <a:chExt cx="292608" cy="2926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6861536" y="4718304"/>
            <a:ext cx="219456" cy="219456"/>
            <a:chOff x="0" y="0"/>
            <a:chExt cx="292608" cy="2926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679424" y="6035040"/>
            <a:ext cx="219456" cy="219456"/>
            <a:chOff x="0" y="0"/>
            <a:chExt cx="292608" cy="2926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740128" y="6035040"/>
            <a:ext cx="219456" cy="219456"/>
            <a:chOff x="0" y="0"/>
            <a:chExt cx="292608" cy="29260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5800832" y="6035040"/>
            <a:ext cx="219456" cy="219456"/>
            <a:chOff x="0" y="0"/>
            <a:chExt cx="292608" cy="2926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6861536" y="6035040"/>
            <a:ext cx="219456" cy="219456"/>
            <a:chOff x="0" y="0"/>
            <a:chExt cx="292608" cy="2926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679424" y="7351776"/>
            <a:ext cx="219456" cy="219456"/>
            <a:chOff x="0" y="0"/>
            <a:chExt cx="292608" cy="2926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740128" y="7351776"/>
            <a:ext cx="219456" cy="219456"/>
            <a:chOff x="0" y="0"/>
            <a:chExt cx="292608" cy="29260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800832" y="7351776"/>
            <a:ext cx="219456" cy="219456"/>
            <a:chOff x="0" y="0"/>
            <a:chExt cx="292608" cy="29260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861536" y="7351776"/>
            <a:ext cx="219456" cy="219456"/>
            <a:chOff x="0" y="0"/>
            <a:chExt cx="292608" cy="29260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679424" y="8668512"/>
            <a:ext cx="219456" cy="219456"/>
            <a:chOff x="0" y="0"/>
            <a:chExt cx="292608" cy="29260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740128" y="8668512"/>
            <a:ext cx="219456" cy="219456"/>
            <a:chOff x="0" y="0"/>
            <a:chExt cx="292608" cy="29260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5800832" y="8668512"/>
            <a:ext cx="219456" cy="219456"/>
            <a:chOff x="0" y="0"/>
            <a:chExt cx="292608" cy="29260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6861536" y="8668512"/>
            <a:ext cx="219456" cy="219456"/>
            <a:chOff x="0" y="0"/>
            <a:chExt cx="292608" cy="29260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05840" y="709155"/>
            <a:ext cx="6669538" cy="790461"/>
            <a:chOff x="0" y="0"/>
            <a:chExt cx="8892718" cy="105394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892667" cy="1053973"/>
            </a:xfrm>
            <a:custGeom>
              <a:avLst/>
              <a:gdLst/>
              <a:ahLst/>
              <a:cxnLst/>
              <a:rect r="r" b="b" t="t" l="l"/>
              <a:pathLst>
                <a:path h="1053973" w="8892667">
                  <a:moveTo>
                    <a:pt x="0" y="0"/>
                  </a:moveTo>
                  <a:lnTo>
                    <a:pt x="8892667" y="0"/>
                  </a:lnTo>
                  <a:lnTo>
                    <a:pt x="8892667" y="1053973"/>
                  </a:lnTo>
                  <a:lnTo>
                    <a:pt x="0" y="1053973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05840" y="709155"/>
            <a:ext cx="6669538" cy="790461"/>
            <a:chOff x="0" y="0"/>
            <a:chExt cx="8892718" cy="105394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892667" cy="1053973"/>
            </a:xfrm>
            <a:custGeom>
              <a:avLst/>
              <a:gdLst/>
              <a:ahLst/>
              <a:cxnLst/>
              <a:rect r="r" b="b" t="t" l="l"/>
              <a:pathLst>
                <a:path h="1053973" w="8892667">
                  <a:moveTo>
                    <a:pt x="0" y="0"/>
                  </a:moveTo>
                  <a:lnTo>
                    <a:pt x="8892667" y="0"/>
                  </a:lnTo>
                  <a:lnTo>
                    <a:pt x="8892667" y="1053973"/>
                  </a:lnTo>
                  <a:lnTo>
                    <a:pt x="0" y="10539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288" r="0" b="-114286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005840" y="660902"/>
            <a:ext cx="6669538" cy="838714"/>
            <a:chOff x="0" y="0"/>
            <a:chExt cx="8892718" cy="111828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892718" cy="1118280"/>
            </a:xfrm>
            <a:custGeom>
              <a:avLst/>
              <a:gdLst/>
              <a:ahLst/>
              <a:cxnLst/>
              <a:rect r="r" b="b" t="t" l="l"/>
              <a:pathLst>
                <a:path h="1118280" w="8892718">
                  <a:moveTo>
                    <a:pt x="0" y="0"/>
                  </a:moveTo>
                  <a:lnTo>
                    <a:pt x="8892718" y="0"/>
                  </a:lnTo>
                  <a:lnTo>
                    <a:pt x="8892718" y="1118280"/>
                  </a:lnTo>
                  <a:lnTo>
                    <a:pt x="0" y="1118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47" r="0" b="-10494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8892718" cy="1165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5EEA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ASSIGNMENT 1  ·  USL LAB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1097280" y="1818894"/>
            <a:ext cx="11155680" cy="347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20"/>
              </a:lnSpc>
            </a:pPr>
            <a:r>
              <a:rPr lang="en-US" sz="7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Research Paper Topic</a:t>
            </a:r>
          </a:p>
          <a:p>
            <a:pPr algn="l">
              <a:lnSpc>
                <a:spcPts val="9120"/>
              </a:lnSpc>
            </a:pPr>
            <a:r>
              <a:rPr lang="en-US" sz="7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Discovery Using</a:t>
            </a:r>
          </a:p>
          <a:p>
            <a:pPr algn="l">
              <a:lnSpc>
                <a:spcPts val="9120"/>
              </a:lnSpc>
            </a:pPr>
            <a:r>
              <a:rPr lang="en-US" sz="7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Abstract Mining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97280" y="6753606"/>
            <a:ext cx="1133856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5EEAD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Unsupervised latent topic modelling on arXiv abstracts</a:t>
            </a:r>
          </a:p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5EEAD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spaCy preprocessing · TF-IDF · MiniBatchNMF · T-SNE · pyLDAvis</a:t>
            </a:r>
          </a:p>
        </p:txBody>
      </p:sp>
      <p:sp>
        <p:nvSpPr>
          <p:cNvPr name="Freeform 71" id="71"/>
          <p:cNvSpPr/>
          <p:nvPr/>
        </p:nvSpPr>
        <p:spPr>
          <a:xfrm flipH="false" flipV="false" rot="0">
            <a:off x="993143" y="8363207"/>
            <a:ext cx="2146745" cy="537401"/>
          </a:xfrm>
          <a:custGeom>
            <a:avLst/>
            <a:gdLst/>
            <a:ahLst/>
            <a:cxnLst/>
            <a:rect r="r" b="b" t="t" l="l"/>
            <a:pathLst>
              <a:path h="537401" w="2146745">
                <a:moveTo>
                  <a:pt x="0" y="0"/>
                </a:moveTo>
                <a:lnTo>
                  <a:pt x="2146745" y="0"/>
                </a:lnTo>
                <a:lnTo>
                  <a:pt x="2146745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1005840" y="8375904"/>
            <a:ext cx="2121408" cy="512064"/>
            <a:chOff x="0" y="0"/>
            <a:chExt cx="2828544" cy="68275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828544" cy="682752"/>
            </a:xfrm>
            <a:custGeom>
              <a:avLst/>
              <a:gdLst/>
              <a:ahLst/>
              <a:cxnLst/>
              <a:rect r="r" b="b" t="t" l="l"/>
              <a:pathLst>
                <a:path h="682752" w="2828544">
                  <a:moveTo>
                    <a:pt x="0" y="0"/>
                  </a:moveTo>
                  <a:lnTo>
                    <a:pt x="2828544" y="0"/>
                  </a:lnTo>
                  <a:lnTo>
                    <a:pt x="282854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667" r="0" b="-30667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05840" y="8354473"/>
            <a:ext cx="2121408" cy="533495"/>
            <a:chOff x="0" y="0"/>
            <a:chExt cx="2828544" cy="71132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828544" cy="711327"/>
            </a:xfrm>
            <a:custGeom>
              <a:avLst/>
              <a:gdLst/>
              <a:ahLst/>
              <a:cxnLst/>
              <a:rect r="r" b="b" t="t" l="l"/>
              <a:pathLst>
                <a:path h="711327" w="2828544">
                  <a:moveTo>
                    <a:pt x="0" y="0"/>
                  </a:moveTo>
                  <a:lnTo>
                    <a:pt x="2828544" y="0"/>
                  </a:lnTo>
                  <a:lnTo>
                    <a:pt x="2828544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80" r="0" b="-2748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2828544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5EEA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spaCy</a:t>
              </a:r>
            </a:p>
          </p:txBody>
        </p:sp>
      </p:grpSp>
      <p:sp>
        <p:nvSpPr>
          <p:cNvPr name="Freeform 77" id="77"/>
          <p:cNvSpPr/>
          <p:nvPr/>
        </p:nvSpPr>
        <p:spPr>
          <a:xfrm flipH="false" flipV="false" rot="0">
            <a:off x="3260855" y="8363207"/>
            <a:ext cx="2146745" cy="537401"/>
          </a:xfrm>
          <a:custGeom>
            <a:avLst/>
            <a:gdLst/>
            <a:ahLst/>
            <a:cxnLst/>
            <a:rect r="r" b="b" t="t" l="l"/>
            <a:pathLst>
              <a:path h="537401" w="2146745">
                <a:moveTo>
                  <a:pt x="0" y="0"/>
                </a:moveTo>
                <a:lnTo>
                  <a:pt x="2146745" y="0"/>
                </a:lnTo>
                <a:lnTo>
                  <a:pt x="2146745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8" id="78"/>
          <p:cNvGrpSpPr/>
          <p:nvPr/>
        </p:nvGrpSpPr>
        <p:grpSpPr>
          <a:xfrm rot="0">
            <a:off x="3273552" y="8375904"/>
            <a:ext cx="2121408" cy="512064"/>
            <a:chOff x="0" y="0"/>
            <a:chExt cx="2828544" cy="68275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828544" cy="682752"/>
            </a:xfrm>
            <a:custGeom>
              <a:avLst/>
              <a:gdLst/>
              <a:ahLst/>
              <a:cxnLst/>
              <a:rect r="r" b="b" t="t" l="l"/>
              <a:pathLst>
                <a:path h="682752" w="2828544">
                  <a:moveTo>
                    <a:pt x="0" y="0"/>
                  </a:moveTo>
                  <a:lnTo>
                    <a:pt x="2828544" y="0"/>
                  </a:lnTo>
                  <a:lnTo>
                    <a:pt x="282854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667" r="0" b="-30667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3273552" y="8354473"/>
            <a:ext cx="2121408" cy="533495"/>
            <a:chOff x="0" y="0"/>
            <a:chExt cx="2828544" cy="71132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828544" cy="711327"/>
            </a:xfrm>
            <a:custGeom>
              <a:avLst/>
              <a:gdLst/>
              <a:ahLst/>
              <a:cxnLst/>
              <a:rect r="r" b="b" t="t" l="l"/>
              <a:pathLst>
                <a:path h="711327" w="2828544">
                  <a:moveTo>
                    <a:pt x="0" y="0"/>
                  </a:moveTo>
                  <a:lnTo>
                    <a:pt x="2828544" y="0"/>
                  </a:lnTo>
                  <a:lnTo>
                    <a:pt x="2828544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80" r="0" b="-2748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2828544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5EEA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TF-IDF</a:t>
              </a:r>
            </a:p>
          </p:txBody>
        </p:sp>
      </p:grpSp>
      <p:sp>
        <p:nvSpPr>
          <p:cNvPr name="Freeform 83" id="83"/>
          <p:cNvSpPr/>
          <p:nvPr/>
        </p:nvSpPr>
        <p:spPr>
          <a:xfrm flipH="false" flipV="false" rot="0">
            <a:off x="5528567" y="8363207"/>
            <a:ext cx="2146744" cy="537401"/>
          </a:xfrm>
          <a:custGeom>
            <a:avLst/>
            <a:gdLst/>
            <a:ahLst/>
            <a:cxnLst/>
            <a:rect r="r" b="b" t="t" l="l"/>
            <a:pathLst>
              <a:path h="537401" w="2146744">
                <a:moveTo>
                  <a:pt x="0" y="0"/>
                </a:moveTo>
                <a:lnTo>
                  <a:pt x="2146745" y="0"/>
                </a:lnTo>
                <a:lnTo>
                  <a:pt x="2146745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4" id="84"/>
          <p:cNvGrpSpPr/>
          <p:nvPr/>
        </p:nvGrpSpPr>
        <p:grpSpPr>
          <a:xfrm rot="0">
            <a:off x="5541264" y="8375904"/>
            <a:ext cx="2121408" cy="512064"/>
            <a:chOff x="0" y="0"/>
            <a:chExt cx="2828544" cy="6827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828544" cy="682752"/>
            </a:xfrm>
            <a:custGeom>
              <a:avLst/>
              <a:gdLst/>
              <a:ahLst/>
              <a:cxnLst/>
              <a:rect r="r" b="b" t="t" l="l"/>
              <a:pathLst>
                <a:path h="682752" w="2828544">
                  <a:moveTo>
                    <a:pt x="0" y="0"/>
                  </a:moveTo>
                  <a:lnTo>
                    <a:pt x="2828544" y="0"/>
                  </a:lnTo>
                  <a:lnTo>
                    <a:pt x="282854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667" r="0" b="-30667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5541264" y="8354473"/>
            <a:ext cx="2121408" cy="533495"/>
            <a:chOff x="0" y="0"/>
            <a:chExt cx="2828544" cy="71132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828544" cy="711327"/>
            </a:xfrm>
            <a:custGeom>
              <a:avLst/>
              <a:gdLst/>
              <a:ahLst/>
              <a:cxnLst/>
              <a:rect r="r" b="b" t="t" l="l"/>
              <a:pathLst>
                <a:path h="711327" w="2828544">
                  <a:moveTo>
                    <a:pt x="0" y="0"/>
                  </a:moveTo>
                  <a:lnTo>
                    <a:pt x="2828544" y="0"/>
                  </a:lnTo>
                  <a:lnTo>
                    <a:pt x="2828544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80" r="0" b="-2748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2828544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5EEA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NMF (K=20)</a:t>
              </a:r>
            </a:p>
          </p:txBody>
        </p:sp>
      </p:grpSp>
      <p:sp>
        <p:nvSpPr>
          <p:cNvPr name="Freeform 89" id="89"/>
          <p:cNvSpPr/>
          <p:nvPr/>
        </p:nvSpPr>
        <p:spPr>
          <a:xfrm flipH="false" flipV="false" rot="0">
            <a:off x="7796279" y="8363207"/>
            <a:ext cx="2146744" cy="537401"/>
          </a:xfrm>
          <a:custGeom>
            <a:avLst/>
            <a:gdLst/>
            <a:ahLst/>
            <a:cxnLst/>
            <a:rect r="r" b="b" t="t" l="l"/>
            <a:pathLst>
              <a:path h="537401" w="2146744">
                <a:moveTo>
                  <a:pt x="0" y="0"/>
                </a:moveTo>
                <a:lnTo>
                  <a:pt x="2146745" y="0"/>
                </a:lnTo>
                <a:lnTo>
                  <a:pt x="2146745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7808976" y="8375904"/>
            <a:ext cx="2121408" cy="512064"/>
            <a:chOff x="0" y="0"/>
            <a:chExt cx="2828544" cy="68275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828544" cy="682752"/>
            </a:xfrm>
            <a:custGeom>
              <a:avLst/>
              <a:gdLst/>
              <a:ahLst/>
              <a:cxnLst/>
              <a:rect r="r" b="b" t="t" l="l"/>
              <a:pathLst>
                <a:path h="682752" w="2828544">
                  <a:moveTo>
                    <a:pt x="0" y="0"/>
                  </a:moveTo>
                  <a:lnTo>
                    <a:pt x="2828544" y="0"/>
                  </a:lnTo>
                  <a:lnTo>
                    <a:pt x="282854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667" r="0" b="-30667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7808976" y="8354473"/>
            <a:ext cx="2121408" cy="533495"/>
            <a:chOff x="0" y="0"/>
            <a:chExt cx="2828544" cy="71132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828544" cy="711327"/>
            </a:xfrm>
            <a:custGeom>
              <a:avLst/>
              <a:gdLst/>
              <a:ahLst/>
              <a:cxnLst/>
              <a:rect r="r" b="b" t="t" l="l"/>
              <a:pathLst>
                <a:path h="711327" w="2828544">
                  <a:moveTo>
                    <a:pt x="0" y="0"/>
                  </a:moveTo>
                  <a:lnTo>
                    <a:pt x="2828544" y="0"/>
                  </a:lnTo>
                  <a:lnTo>
                    <a:pt x="2828544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80" r="0" b="-2748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2828544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5EEA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T-sne</a:t>
              </a:r>
            </a:p>
          </p:txBody>
        </p:sp>
      </p:grpSp>
      <p:sp>
        <p:nvSpPr>
          <p:cNvPr name="Freeform 95" id="95"/>
          <p:cNvSpPr/>
          <p:nvPr/>
        </p:nvSpPr>
        <p:spPr>
          <a:xfrm flipH="false" flipV="false" rot="0">
            <a:off x="10063991" y="8363207"/>
            <a:ext cx="2146744" cy="537401"/>
          </a:xfrm>
          <a:custGeom>
            <a:avLst/>
            <a:gdLst/>
            <a:ahLst/>
            <a:cxnLst/>
            <a:rect r="r" b="b" t="t" l="l"/>
            <a:pathLst>
              <a:path h="537401" w="2146744">
                <a:moveTo>
                  <a:pt x="0" y="0"/>
                </a:moveTo>
                <a:lnTo>
                  <a:pt x="2146745" y="0"/>
                </a:lnTo>
                <a:lnTo>
                  <a:pt x="2146745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6" id="96"/>
          <p:cNvGrpSpPr/>
          <p:nvPr/>
        </p:nvGrpSpPr>
        <p:grpSpPr>
          <a:xfrm rot="0">
            <a:off x="10076688" y="8375904"/>
            <a:ext cx="2121408" cy="512064"/>
            <a:chOff x="0" y="0"/>
            <a:chExt cx="2828544" cy="68275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828544" cy="682752"/>
            </a:xfrm>
            <a:custGeom>
              <a:avLst/>
              <a:gdLst/>
              <a:ahLst/>
              <a:cxnLst/>
              <a:rect r="r" b="b" t="t" l="l"/>
              <a:pathLst>
                <a:path h="682752" w="2828544">
                  <a:moveTo>
                    <a:pt x="0" y="0"/>
                  </a:moveTo>
                  <a:lnTo>
                    <a:pt x="2828544" y="0"/>
                  </a:lnTo>
                  <a:lnTo>
                    <a:pt x="282854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667" r="0" b="-30667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0076688" y="8354473"/>
            <a:ext cx="2121408" cy="533495"/>
            <a:chOff x="0" y="0"/>
            <a:chExt cx="2828544" cy="71132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828544" cy="711327"/>
            </a:xfrm>
            <a:custGeom>
              <a:avLst/>
              <a:gdLst/>
              <a:ahLst/>
              <a:cxnLst/>
              <a:rect r="r" b="b" t="t" l="l"/>
              <a:pathLst>
                <a:path h="711327" w="2828544">
                  <a:moveTo>
                    <a:pt x="0" y="0"/>
                  </a:moveTo>
                  <a:lnTo>
                    <a:pt x="2828544" y="0"/>
                  </a:lnTo>
                  <a:lnTo>
                    <a:pt x="2828544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80" r="0" b="-2748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28575"/>
              <a:ext cx="2828544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5EEA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pyLDAvis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0" y="9107424"/>
            <a:ext cx="18288000" cy="1179576"/>
            <a:chOff x="0" y="0"/>
            <a:chExt cx="24384000" cy="157276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4384000" cy="1572768"/>
            </a:xfrm>
            <a:custGeom>
              <a:avLst/>
              <a:gdLst/>
              <a:ahLst/>
              <a:cxnLst/>
              <a:rect r="r" b="b" t="t" l="l"/>
              <a:pathLst>
                <a:path h="157276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72768"/>
                  </a:lnTo>
                  <a:lnTo>
                    <a:pt x="0" y="1572768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822960" y="9107424"/>
            <a:ext cx="10058400" cy="1179576"/>
            <a:chOff x="0" y="0"/>
            <a:chExt cx="13411200" cy="157276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3411200" cy="1572768"/>
            </a:xfrm>
            <a:custGeom>
              <a:avLst/>
              <a:gdLst/>
              <a:ahLst/>
              <a:cxnLst/>
              <a:rect r="r" b="b" t="t" l="l"/>
              <a:pathLst>
                <a:path h="157276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6036" r="0" b="-116036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822960" y="9071705"/>
            <a:ext cx="10058400" cy="1215295"/>
            <a:chOff x="0" y="0"/>
            <a:chExt cx="13411200" cy="1620393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3411200" cy="1620393"/>
            </a:xfrm>
            <a:custGeom>
              <a:avLst/>
              <a:gdLst/>
              <a:ahLst/>
              <a:cxnLst/>
              <a:rect r="r" b="b" t="t" l="l"/>
              <a:pathLst>
                <a:path h="1620393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620393"/>
                  </a:lnTo>
                  <a:lnTo>
                    <a:pt x="0" y="16203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268" r="0" b="-111268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13411200" cy="1668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1E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GitHub: yash-rai-93/arXiv-Topic-Discovery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0607040" y="9107424"/>
            <a:ext cx="7132320" cy="1179576"/>
            <a:chOff x="0" y="0"/>
            <a:chExt cx="9509760" cy="157276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509760" cy="1572768"/>
            </a:xfrm>
            <a:custGeom>
              <a:avLst/>
              <a:gdLst/>
              <a:ahLst/>
              <a:cxnLst/>
              <a:rect r="r" b="b" t="t" l="l"/>
              <a:pathLst>
                <a:path h="157276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734" r="0" b="-67734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0607040" y="9071705"/>
            <a:ext cx="7132320" cy="1215295"/>
            <a:chOff x="0" y="0"/>
            <a:chExt cx="9509760" cy="1620393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509760" cy="1620393"/>
            </a:xfrm>
            <a:custGeom>
              <a:avLst/>
              <a:gdLst/>
              <a:ahLst/>
              <a:cxnLst/>
              <a:rect r="r" b="b" t="t" l="l"/>
              <a:pathLst>
                <a:path h="1620393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620393"/>
                  </a:lnTo>
                  <a:lnTo>
                    <a:pt x="0" y="16203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353" r="0" b="-64353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9509760" cy="1668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Dataset: arXiv · Cornell University / Kaggle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631674" y="333756"/>
            <a:ext cx="4974336" cy="1389888"/>
            <a:chOff x="0" y="0"/>
            <a:chExt cx="6632448" cy="185318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632448" cy="1853184"/>
            </a:xfrm>
            <a:custGeom>
              <a:avLst/>
              <a:gdLst/>
              <a:ahLst/>
              <a:cxnLst/>
              <a:rect r="r" b="b" t="t" l="l"/>
              <a:pathLst>
                <a:path h="185318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87" r="0" b="-19687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2631674" y="283750"/>
            <a:ext cx="4974336" cy="1439894"/>
            <a:chOff x="0" y="0"/>
            <a:chExt cx="6632448" cy="1919859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632448" cy="1919859"/>
            </a:xfrm>
            <a:custGeom>
              <a:avLst/>
              <a:gdLst/>
              <a:ahLst/>
              <a:cxnLst/>
              <a:rect r="r" b="b" t="t" l="l"/>
              <a:pathLst>
                <a:path h="1919859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919859"/>
                  </a:lnTo>
                  <a:lnTo>
                    <a:pt x="0" y="19198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14" r="0" b="-17314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66675"/>
              <a:ext cx="6632448" cy="1986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GROUP - 04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2435840" y="3429000"/>
            <a:ext cx="5852160" cy="4178808"/>
            <a:chOff x="0" y="0"/>
            <a:chExt cx="7802880" cy="5571744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7802880" cy="5571744"/>
            </a:xfrm>
            <a:custGeom>
              <a:avLst/>
              <a:gdLst/>
              <a:ahLst/>
              <a:cxnLst/>
              <a:rect r="r" b="b" t="t" l="l"/>
              <a:pathLst>
                <a:path h="557174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571744"/>
                  </a:lnTo>
                  <a:lnTo>
                    <a:pt x="0" y="55717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680" t="0" r="-41680" b="0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2435840" y="3386138"/>
            <a:ext cx="5852160" cy="4221670"/>
            <a:chOff x="0" y="0"/>
            <a:chExt cx="7802880" cy="5628894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7802880" cy="5628894"/>
            </a:xfrm>
            <a:custGeom>
              <a:avLst/>
              <a:gdLst/>
              <a:ahLst/>
              <a:cxnLst/>
              <a:rect r="r" b="b" t="t" l="l"/>
              <a:pathLst>
                <a:path h="562889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628894"/>
                  </a:lnTo>
                  <a:lnTo>
                    <a:pt x="0" y="56288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556" t="0" r="-42556" b="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57150"/>
              <a:ext cx="7802880" cy="5686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1. Tejas Ganesh - Btech/10381/23</a:t>
              </a:r>
            </a:p>
            <a:p>
              <a:pPr algn="l">
                <a:lnSpc>
                  <a:spcPts val="3119"/>
                </a:lnSpc>
              </a:pPr>
            </a:p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2. Yash Rai - Btech/10502/23</a:t>
              </a:r>
            </a:p>
            <a:p>
              <a:pPr algn="l">
                <a:lnSpc>
                  <a:spcPts val="3119"/>
                </a:lnSpc>
              </a:pPr>
            </a:p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3. Tanishk Singh Thakur - Btech/10507/23</a:t>
              </a:r>
            </a:p>
            <a:p>
              <a:pPr algn="l">
                <a:lnSpc>
                  <a:spcPts val="3119"/>
                </a:lnSpc>
              </a:pPr>
            </a:p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4. Om Gupta - Btech/10638/23</a:t>
              </a:r>
            </a:p>
            <a:p>
              <a:pPr algn="l">
                <a:lnSpc>
                  <a:spcPts val="3119"/>
                </a:lnSpc>
              </a:pPr>
            </a:p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5. Aryan Anand Nahata - Btech/10823/23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26464"/>
            <a:chOff x="0" y="0"/>
            <a:chExt cx="24384000" cy="19019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B1E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775936" y="0"/>
            <a:ext cx="512064" cy="1426464"/>
            <a:chOff x="0" y="0"/>
            <a:chExt cx="682752" cy="19019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2752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0"/>
            <a:ext cx="16642080" cy="1426464"/>
            <a:chOff x="0" y="0"/>
            <a:chExt cx="22189440" cy="19019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894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167" r="0" b="-17716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-7144"/>
            <a:ext cx="16642080" cy="1433608"/>
            <a:chOff x="0" y="0"/>
            <a:chExt cx="22189440" cy="19114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9439" cy="1911477"/>
            </a:xfrm>
            <a:custGeom>
              <a:avLst/>
              <a:gdLst/>
              <a:ahLst/>
              <a:cxnLst/>
              <a:rect r="r" b="b" t="t" l="l"/>
              <a:pathLst>
                <a:path h="1911477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911477"/>
                  </a:lnTo>
                  <a:lnTo>
                    <a:pt x="0" y="19114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192" r="0" b="-17619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2189440" cy="1921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Introduction &amp; Problem Statement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4944" y="1682496"/>
            <a:ext cx="5303520" cy="1975104"/>
            <a:chOff x="0" y="0"/>
            <a:chExt cx="7071360" cy="26334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71360" cy="2633472"/>
            </a:xfrm>
            <a:custGeom>
              <a:avLst/>
              <a:gdLst/>
              <a:ahLst/>
              <a:cxnLst/>
              <a:rect r="r" b="b" t="t" l="l"/>
              <a:pathLst>
                <a:path h="263347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0B1E3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94944" y="1682496"/>
            <a:ext cx="182880" cy="1975104"/>
            <a:chOff x="0" y="0"/>
            <a:chExt cx="243840" cy="26334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" cy="2633472"/>
            </a:xfrm>
            <a:custGeom>
              <a:avLst/>
              <a:gdLst/>
              <a:ahLst/>
              <a:cxnLst/>
              <a:rect r="r" b="b" t="t" l="l"/>
              <a:pathLst>
                <a:path h="2633472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50976" y="1737360"/>
            <a:ext cx="4937760" cy="1005840"/>
            <a:chOff x="0" y="0"/>
            <a:chExt cx="6583680" cy="1341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83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587" r="0" b="-4558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50976" y="1651635"/>
            <a:ext cx="4937760" cy="1091565"/>
            <a:chOff x="0" y="0"/>
            <a:chExt cx="6583680" cy="14554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83680" cy="1455420"/>
            </a:xfrm>
            <a:custGeom>
              <a:avLst/>
              <a:gdLst/>
              <a:ahLst/>
              <a:cxnLst/>
              <a:rect r="r" b="b" t="t" l="l"/>
              <a:pathLst>
                <a:path h="14554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55420"/>
                  </a:lnTo>
                  <a:lnTo>
                    <a:pt x="0" y="14554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41" r="0" b="-3814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33350"/>
              <a:ext cx="6583680" cy="1588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8"/>
                </a:lnSpc>
              </a:pPr>
              <a:r>
                <a:rPr lang="en-US" sz="5599" b="true">
                  <a:solidFill>
                    <a:srgbClr val="5EEA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2.96M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42416" y="2712720"/>
            <a:ext cx="4754880" cy="82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EEF4FB"/>
                </a:solidFill>
                <a:latin typeface="Calibri (MS)"/>
                <a:ea typeface="Calibri (MS)"/>
                <a:cs typeface="Calibri (MS)"/>
                <a:sym typeface="Calibri (MS)"/>
              </a:rPr>
              <a:t>arXiv papers in</a:t>
            </a:r>
          </a:p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EEF4FB"/>
                </a:solidFill>
                <a:latin typeface="Calibri (MS)"/>
                <a:ea typeface="Calibri (MS)"/>
                <a:cs typeface="Calibri (MS)"/>
                <a:sym typeface="Calibri (MS)"/>
              </a:rPr>
              <a:t>full JSON snapshot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364224" y="1682496"/>
            <a:ext cx="5303520" cy="1975104"/>
            <a:chOff x="0" y="0"/>
            <a:chExt cx="7071360" cy="26334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71360" cy="2633472"/>
            </a:xfrm>
            <a:custGeom>
              <a:avLst/>
              <a:gdLst/>
              <a:ahLst/>
              <a:cxnLst/>
              <a:rect r="r" b="b" t="t" l="l"/>
              <a:pathLst>
                <a:path h="263347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364224" y="1682496"/>
            <a:ext cx="182880" cy="1975104"/>
            <a:chOff x="0" y="0"/>
            <a:chExt cx="243840" cy="26334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3840" cy="2633472"/>
            </a:xfrm>
            <a:custGeom>
              <a:avLst/>
              <a:gdLst/>
              <a:ahLst/>
              <a:cxnLst/>
              <a:rect r="r" b="b" t="t" l="l"/>
              <a:pathLst>
                <a:path h="2633472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620256" y="1737360"/>
            <a:ext cx="4937760" cy="1005840"/>
            <a:chOff x="0" y="0"/>
            <a:chExt cx="6583680" cy="1341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83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587" r="0" b="-45587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620256" y="1651635"/>
            <a:ext cx="4937760" cy="1091565"/>
            <a:chOff x="0" y="0"/>
            <a:chExt cx="6583680" cy="14554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83680" cy="1455420"/>
            </a:xfrm>
            <a:custGeom>
              <a:avLst/>
              <a:gdLst/>
              <a:ahLst/>
              <a:cxnLst/>
              <a:rect r="r" b="b" t="t" l="l"/>
              <a:pathLst>
                <a:path h="14554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55420"/>
                  </a:lnTo>
                  <a:lnTo>
                    <a:pt x="0" y="14554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41" r="0" b="-3814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33350"/>
              <a:ext cx="6583680" cy="1588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8"/>
                </a:lnSpc>
              </a:pPr>
              <a:r>
                <a:rPr lang="en-US" sz="5599" b="true">
                  <a:solidFill>
                    <a:srgbClr val="5EEA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50K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711696" y="2712720"/>
            <a:ext cx="4754880" cy="82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EEF4FB"/>
                </a:solidFill>
                <a:latin typeface="Calibri (MS)"/>
                <a:ea typeface="Calibri (MS)"/>
                <a:cs typeface="Calibri (MS)"/>
                <a:sym typeface="Calibri (MS)"/>
              </a:rPr>
              <a:t>papers per chunk</a:t>
            </a:r>
          </a:p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EEF4FB"/>
                </a:solidFill>
                <a:latin typeface="Calibri (MS)"/>
                <a:ea typeface="Calibri (MS)"/>
                <a:cs typeface="Calibri (MS)"/>
                <a:sym typeface="Calibri (MS)"/>
              </a:rPr>
              <a:t>(memory-safe batching)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033504" y="1682496"/>
            <a:ext cx="5303520" cy="1975104"/>
            <a:chOff x="0" y="0"/>
            <a:chExt cx="7071360" cy="26334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71360" cy="2633472"/>
            </a:xfrm>
            <a:custGeom>
              <a:avLst/>
              <a:gdLst/>
              <a:ahLst/>
              <a:cxnLst/>
              <a:rect r="r" b="b" t="t" l="l"/>
              <a:pathLst>
                <a:path h="263347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033504" y="1682496"/>
            <a:ext cx="182880" cy="1975104"/>
            <a:chOff x="0" y="0"/>
            <a:chExt cx="243840" cy="263347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3840" cy="2633472"/>
            </a:xfrm>
            <a:custGeom>
              <a:avLst/>
              <a:gdLst/>
              <a:ahLst/>
              <a:cxnLst/>
              <a:rect r="r" b="b" t="t" l="l"/>
              <a:pathLst>
                <a:path h="2633472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289536" y="1737360"/>
            <a:ext cx="4937760" cy="1005840"/>
            <a:chOff x="0" y="0"/>
            <a:chExt cx="6583680" cy="1341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83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587" r="0" b="-45587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289536" y="1651635"/>
            <a:ext cx="4937760" cy="1091565"/>
            <a:chOff x="0" y="0"/>
            <a:chExt cx="6583680" cy="14554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83680" cy="1455420"/>
            </a:xfrm>
            <a:custGeom>
              <a:avLst/>
              <a:gdLst/>
              <a:ahLst/>
              <a:cxnLst/>
              <a:rect r="r" b="b" t="t" l="l"/>
              <a:pathLst>
                <a:path h="14554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55420"/>
                  </a:lnTo>
                  <a:lnTo>
                    <a:pt x="0" y="14554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41" r="0" b="-3814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33350"/>
              <a:ext cx="6583680" cy="1588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8"/>
                </a:lnSpc>
              </a:pPr>
              <a:r>
                <a:rPr lang="en-US" sz="5599" b="true">
                  <a:solidFill>
                    <a:srgbClr val="5EEA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2380976" y="2712720"/>
            <a:ext cx="4754880" cy="82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EEF4FB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labels</a:t>
            </a:r>
          </a:p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EEF4FB"/>
                </a:solidFill>
                <a:latin typeface="Calibri (MS)"/>
                <a:ea typeface="Calibri (MS)"/>
                <a:cs typeface="Calibri (MS)"/>
                <a:sym typeface="Calibri (MS)"/>
              </a:rPr>
              <a:t>in this pipeline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94944" y="3913632"/>
            <a:ext cx="16898112" cy="621792"/>
            <a:chOff x="0" y="0"/>
            <a:chExt cx="22530816" cy="8290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530815" cy="829056"/>
            </a:xfrm>
            <a:custGeom>
              <a:avLst/>
              <a:gdLst/>
              <a:ahLst/>
              <a:cxnLst/>
              <a:rect r="r" b="b" t="t" l="l"/>
              <a:pathLst>
                <a:path h="829056" w="22530815">
                  <a:moveTo>
                    <a:pt x="0" y="0"/>
                  </a:moveTo>
                  <a:lnTo>
                    <a:pt x="22530815" y="0"/>
                  </a:lnTo>
                  <a:lnTo>
                    <a:pt x="22530815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50976" y="3913632"/>
            <a:ext cx="16642080" cy="621792"/>
            <a:chOff x="0" y="0"/>
            <a:chExt cx="22189440" cy="8290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189439" cy="829056"/>
            </a:xfrm>
            <a:custGeom>
              <a:avLst/>
              <a:gdLst/>
              <a:ahLst/>
              <a:cxnLst/>
              <a:rect r="r" b="b" t="t" l="l"/>
              <a:pathLst>
                <a:path h="829056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1148" r="0" b="-471148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50976" y="3885057"/>
            <a:ext cx="16642080" cy="650367"/>
            <a:chOff x="0" y="0"/>
            <a:chExt cx="22189440" cy="8671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189439" cy="867156"/>
            </a:xfrm>
            <a:custGeom>
              <a:avLst/>
              <a:gdLst/>
              <a:ahLst/>
              <a:cxnLst/>
              <a:rect r="r" b="b" t="t" l="l"/>
              <a:pathLst>
                <a:path h="867156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867156"/>
                  </a:lnTo>
                  <a:lnTo>
                    <a:pt x="0" y="867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8597" r="0" b="-44859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2189440" cy="905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94944" y="4535424"/>
            <a:ext cx="16898112" cy="1719072"/>
            <a:chOff x="0" y="0"/>
            <a:chExt cx="22530816" cy="22920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530815" cy="2292096"/>
            </a:xfrm>
            <a:custGeom>
              <a:avLst/>
              <a:gdLst/>
              <a:ahLst/>
              <a:cxnLst/>
              <a:rect r="r" b="b" t="t" l="l"/>
              <a:pathLst>
                <a:path h="2292096" w="22530815">
                  <a:moveTo>
                    <a:pt x="0" y="0"/>
                  </a:moveTo>
                  <a:lnTo>
                    <a:pt x="22530815" y="0"/>
                  </a:lnTo>
                  <a:lnTo>
                    <a:pt x="22530815" y="2292096"/>
                  </a:lnTo>
                  <a:lnTo>
                    <a:pt x="0" y="229209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097280" y="4559046"/>
            <a:ext cx="16276320" cy="1613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0B1E3E"/>
                </a:solidFill>
                <a:latin typeface="Calibri (MS)"/>
                <a:ea typeface="Calibri (MS)"/>
                <a:cs typeface="Calibri (MS)"/>
                <a:sym typeface="Calibri (MS)"/>
              </a:rPr>
              <a:t>With exponential growth in research publications, manually labelling papers at scale is impractical. This project automatically discovers latent research themes from raw arXiv abstracts — without any pre-labelled data — using chunked preprocessing with spaCy, TF-IDF feature extraction, MiniBatchNMF topic modelling, and t-SNE + pyLDAvis visualisation.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707641" y="6911597"/>
            <a:ext cx="10972800" cy="512064"/>
            <a:chOff x="0" y="0"/>
            <a:chExt cx="14630400" cy="6827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63040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247" r="0" b="-367245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07641" y="6883022"/>
            <a:ext cx="10972800" cy="540639"/>
            <a:chOff x="0" y="0"/>
            <a:chExt cx="14630400" cy="7208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630400" cy="720852"/>
            </a:xfrm>
            <a:custGeom>
              <a:avLst/>
              <a:gdLst/>
              <a:ahLst/>
              <a:cxnLst/>
              <a:rect r="r" b="b" t="t" l="l"/>
              <a:pathLst>
                <a:path h="72085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5468" r="0" b="-34546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463040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APPLICATIONS</a:t>
              </a: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694944" y="7520692"/>
            <a:ext cx="8254936" cy="720281"/>
          </a:xfrm>
          <a:custGeom>
            <a:avLst/>
            <a:gdLst/>
            <a:ahLst/>
            <a:cxnLst/>
            <a:rect r="r" b="b" t="t" l="l"/>
            <a:pathLst>
              <a:path h="720281" w="8254936">
                <a:moveTo>
                  <a:pt x="0" y="0"/>
                </a:moveTo>
                <a:lnTo>
                  <a:pt x="8254936" y="0"/>
                </a:lnTo>
                <a:lnTo>
                  <a:pt x="8254936" y="720281"/>
                </a:lnTo>
                <a:lnTo>
                  <a:pt x="0" y="7202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963673" y="7533389"/>
            <a:ext cx="7863840" cy="694944"/>
            <a:chOff x="0" y="0"/>
            <a:chExt cx="10485120" cy="92659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485120" cy="926592"/>
            </a:xfrm>
            <a:custGeom>
              <a:avLst/>
              <a:gdLst/>
              <a:ahLst/>
              <a:cxnLst/>
              <a:rect r="r" b="b" t="t" l="l"/>
              <a:pathLst>
                <a:path h="92659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335" r="0" b="-170334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63673" y="7497670"/>
            <a:ext cx="7863840" cy="730663"/>
            <a:chOff x="0" y="0"/>
            <a:chExt cx="10485120" cy="97421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485120" cy="974217"/>
            </a:xfrm>
            <a:custGeom>
              <a:avLst/>
              <a:gdLst/>
              <a:ahLst/>
              <a:cxnLst/>
              <a:rect r="r" b="b" t="t" l="l"/>
              <a:pathLst>
                <a:path h="974217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709" r="0" b="-15970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0485120" cy="102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📚  Literature Review Automation</a:t>
              </a: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9326880" y="7520692"/>
            <a:ext cx="8254936" cy="720281"/>
          </a:xfrm>
          <a:custGeom>
            <a:avLst/>
            <a:gdLst/>
            <a:ahLst/>
            <a:cxnLst/>
            <a:rect r="r" b="b" t="t" l="l"/>
            <a:pathLst>
              <a:path h="720281" w="8254936">
                <a:moveTo>
                  <a:pt x="0" y="0"/>
                </a:moveTo>
                <a:lnTo>
                  <a:pt x="8254936" y="0"/>
                </a:lnTo>
                <a:lnTo>
                  <a:pt x="8254936" y="720281"/>
                </a:lnTo>
                <a:lnTo>
                  <a:pt x="0" y="7202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9595609" y="7533389"/>
            <a:ext cx="7863840" cy="694944"/>
            <a:chOff x="0" y="0"/>
            <a:chExt cx="10485120" cy="9265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485120" cy="926592"/>
            </a:xfrm>
            <a:custGeom>
              <a:avLst/>
              <a:gdLst/>
              <a:ahLst/>
              <a:cxnLst/>
              <a:rect r="r" b="b" t="t" l="l"/>
              <a:pathLst>
                <a:path h="92659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335" r="0" b="-170334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595609" y="7497670"/>
            <a:ext cx="7863840" cy="730663"/>
            <a:chOff x="0" y="0"/>
            <a:chExt cx="10485120" cy="97421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485120" cy="974217"/>
            </a:xfrm>
            <a:custGeom>
              <a:avLst/>
              <a:gdLst/>
              <a:ahLst/>
              <a:cxnLst/>
              <a:rect r="r" b="b" t="t" l="l"/>
              <a:pathLst>
                <a:path h="974217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709" r="0" b="-15970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0485120" cy="102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🔍  Research Trend Detection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694944" y="8361940"/>
            <a:ext cx="8254936" cy="720281"/>
          </a:xfrm>
          <a:custGeom>
            <a:avLst/>
            <a:gdLst/>
            <a:ahLst/>
            <a:cxnLst/>
            <a:rect r="r" b="b" t="t" l="l"/>
            <a:pathLst>
              <a:path h="720281" w="8254936">
                <a:moveTo>
                  <a:pt x="0" y="0"/>
                </a:moveTo>
                <a:lnTo>
                  <a:pt x="8254936" y="0"/>
                </a:lnTo>
                <a:lnTo>
                  <a:pt x="8254936" y="720281"/>
                </a:lnTo>
                <a:lnTo>
                  <a:pt x="0" y="7202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963673" y="8374637"/>
            <a:ext cx="7863840" cy="694944"/>
            <a:chOff x="0" y="0"/>
            <a:chExt cx="10485120" cy="9265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485120" cy="926592"/>
            </a:xfrm>
            <a:custGeom>
              <a:avLst/>
              <a:gdLst/>
              <a:ahLst/>
              <a:cxnLst/>
              <a:rect r="r" b="b" t="t" l="l"/>
              <a:pathLst>
                <a:path h="92659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335" r="0" b="-170334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63673" y="8338918"/>
            <a:ext cx="7863840" cy="730663"/>
            <a:chOff x="0" y="0"/>
            <a:chExt cx="10485120" cy="97421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485120" cy="974217"/>
            </a:xfrm>
            <a:custGeom>
              <a:avLst/>
              <a:gdLst/>
              <a:ahLst/>
              <a:cxnLst/>
              <a:rect r="r" b="b" t="t" l="l"/>
              <a:pathLst>
                <a:path h="974217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709" r="0" b="-15970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0485120" cy="102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🤝  Interdisciplinary Collaboration</a:t>
              </a:r>
            </a:p>
          </p:txBody>
        </p:sp>
      </p:grpSp>
      <p:sp>
        <p:nvSpPr>
          <p:cNvPr name="Freeform 74" id="74"/>
          <p:cNvSpPr/>
          <p:nvPr/>
        </p:nvSpPr>
        <p:spPr>
          <a:xfrm flipH="false" flipV="false" rot="0">
            <a:off x="9326880" y="8361940"/>
            <a:ext cx="8254936" cy="720281"/>
          </a:xfrm>
          <a:custGeom>
            <a:avLst/>
            <a:gdLst/>
            <a:ahLst/>
            <a:cxnLst/>
            <a:rect r="r" b="b" t="t" l="l"/>
            <a:pathLst>
              <a:path h="720281" w="8254936">
                <a:moveTo>
                  <a:pt x="0" y="0"/>
                </a:moveTo>
                <a:lnTo>
                  <a:pt x="8254936" y="0"/>
                </a:lnTo>
                <a:lnTo>
                  <a:pt x="8254936" y="720281"/>
                </a:lnTo>
                <a:lnTo>
                  <a:pt x="0" y="7202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9595609" y="8374637"/>
            <a:ext cx="7863840" cy="694944"/>
            <a:chOff x="0" y="0"/>
            <a:chExt cx="10485120" cy="92659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485120" cy="926592"/>
            </a:xfrm>
            <a:custGeom>
              <a:avLst/>
              <a:gdLst/>
              <a:ahLst/>
              <a:cxnLst/>
              <a:rect r="r" b="b" t="t" l="l"/>
              <a:pathLst>
                <a:path h="92659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335" r="0" b="-170334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595609" y="8338918"/>
            <a:ext cx="7863840" cy="730663"/>
            <a:chOff x="0" y="0"/>
            <a:chExt cx="10485120" cy="97421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485120" cy="974217"/>
            </a:xfrm>
            <a:custGeom>
              <a:avLst/>
              <a:gdLst/>
              <a:ahLst/>
              <a:cxnLst/>
              <a:rect r="r" b="b" t="t" l="l"/>
              <a:pathLst>
                <a:path h="974217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709" r="0" b="-15970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10485120" cy="102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🎯  Personalised Paper Recommendation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26464"/>
            <a:chOff x="0" y="0"/>
            <a:chExt cx="24384000" cy="19019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B1E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775936" y="0"/>
            <a:ext cx="512064" cy="1426464"/>
            <a:chOff x="0" y="0"/>
            <a:chExt cx="682752" cy="19019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2752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85800" y="-887720"/>
            <a:ext cx="16587216" cy="3228965"/>
            <a:chOff x="0" y="0"/>
            <a:chExt cx="22116288" cy="43052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16287" cy="4305300"/>
            </a:xfrm>
            <a:custGeom>
              <a:avLst/>
              <a:gdLst/>
              <a:ahLst/>
              <a:cxnLst/>
              <a:rect r="r" b="b" t="t" l="l"/>
              <a:pathLst>
                <a:path h="4305300" w="22116287">
                  <a:moveTo>
                    <a:pt x="0" y="0"/>
                  </a:moveTo>
                  <a:lnTo>
                    <a:pt x="22116287" y="0"/>
                  </a:lnTo>
                  <a:lnTo>
                    <a:pt x="22116287" y="4305300"/>
                  </a:lnTo>
                  <a:lnTo>
                    <a:pt x="0" y="4305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025" r="0" b="-5002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5800" y="-894836"/>
            <a:ext cx="16587216" cy="3236081"/>
            <a:chOff x="0" y="0"/>
            <a:chExt cx="22116288" cy="43147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16289" cy="4314778"/>
            </a:xfrm>
            <a:custGeom>
              <a:avLst/>
              <a:gdLst/>
              <a:ahLst/>
              <a:cxnLst/>
              <a:rect r="r" b="b" t="t" l="l"/>
              <a:pathLst>
                <a:path h="4314778" w="22116289">
                  <a:moveTo>
                    <a:pt x="0" y="0"/>
                  </a:moveTo>
                  <a:lnTo>
                    <a:pt x="22116289" y="0"/>
                  </a:lnTo>
                  <a:lnTo>
                    <a:pt x="22116289" y="4314778"/>
                  </a:lnTo>
                  <a:lnTo>
                    <a:pt x="0" y="43147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74" r="0" b="-4987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2116288" cy="43242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Dataset Description &amp; Text Preprocessing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8368" y="1682496"/>
            <a:ext cx="8321040" cy="7955280"/>
            <a:chOff x="0" y="0"/>
            <a:chExt cx="11094720" cy="10607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94720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58368" y="1682496"/>
            <a:ext cx="8321040" cy="731520"/>
            <a:chOff x="0" y="0"/>
            <a:chExt cx="1109472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94720" cy="975360"/>
            </a:xfrm>
            <a:custGeom>
              <a:avLst/>
              <a:gdLst/>
              <a:ahLst/>
              <a:cxnLst/>
              <a:rect r="r" b="b" t="t" l="l"/>
              <a:pathLst>
                <a:path h="9753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1682496"/>
            <a:ext cx="8046720" cy="731520"/>
            <a:chOff x="0" y="0"/>
            <a:chExt cx="1072896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28960" cy="975360"/>
            </a:xfrm>
            <a:custGeom>
              <a:avLst/>
              <a:gdLst/>
              <a:ahLst/>
              <a:cxnLst/>
              <a:rect r="r" b="b" t="t" l="l"/>
              <a:pathLst>
                <a:path h="975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186" r="0" b="-16418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1646777"/>
            <a:ext cx="8046720" cy="767239"/>
            <a:chOff x="0" y="0"/>
            <a:chExt cx="10728960" cy="10229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28960" cy="1022985"/>
            </a:xfrm>
            <a:custGeom>
              <a:avLst/>
              <a:gdLst/>
              <a:ahLst/>
              <a:cxnLst/>
              <a:rect r="r" b="b" t="t" l="l"/>
              <a:pathLst>
                <a:path h="1022985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22985"/>
                  </a:lnTo>
                  <a:lnTo>
                    <a:pt x="0" y="10229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357" r="0" b="-15435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728960" cy="1070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arXiv Dataset (Cornell University)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8368" y="2560320"/>
            <a:ext cx="8321040" cy="950976"/>
            <a:chOff x="0" y="0"/>
            <a:chExt cx="11094720" cy="12679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0947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0F9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77824" y="2560320"/>
            <a:ext cx="2468880" cy="950976"/>
            <a:chOff x="0" y="0"/>
            <a:chExt cx="3291840" cy="12679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918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0" r="0" b="-55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77824" y="2531745"/>
            <a:ext cx="2468880" cy="979551"/>
            <a:chOff x="0" y="0"/>
            <a:chExt cx="3291840" cy="13060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91840" cy="1306068"/>
            </a:xfrm>
            <a:custGeom>
              <a:avLst/>
              <a:gdLst/>
              <a:ahLst/>
              <a:cxnLst/>
              <a:rect r="r" b="b" t="t" l="l"/>
              <a:pathLst>
                <a:path h="130606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05" t="0" r="-905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29184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Source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383280" y="2560320"/>
            <a:ext cx="5394960" cy="950976"/>
            <a:chOff x="0" y="0"/>
            <a:chExt cx="7193280" cy="126796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932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63" r="0" b="-60462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383280" y="2531745"/>
            <a:ext cx="5394960" cy="979551"/>
            <a:chOff x="0" y="0"/>
            <a:chExt cx="7193280" cy="13060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93280" cy="1306068"/>
            </a:xfrm>
            <a:custGeom>
              <a:avLst/>
              <a:gdLst/>
              <a:ahLst/>
              <a:cxnLst/>
              <a:rect r="r" b="b" t="t" l="l"/>
              <a:pathLst>
                <a:path h="130606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15" r="0" b="-5731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19328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Kaggle — Cornell-University/arxiv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58368" y="3511296"/>
            <a:ext cx="8321040" cy="950976"/>
            <a:chOff x="0" y="0"/>
            <a:chExt cx="11094720" cy="12679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0947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77824" y="3511296"/>
            <a:ext cx="2468880" cy="950976"/>
            <a:chOff x="0" y="0"/>
            <a:chExt cx="3291840" cy="12679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2918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0" r="0" b="-55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77824" y="3482721"/>
            <a:ext cx="2468880" cy="979551"/>
            <a:chOff x="0" y="0"/>
            <a:chExt cx="3291840" cy="130606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291840" cy="1306068"/>
            </a:xfrm>
            <a:custGeom>
              <a:avLst/>
              <a:gdLst/>
              <a:ahLst/>
              <a:cxnLst/>
              <a:rect r="r" b="b" t="t" l="l"/>
              <a:pathLst>
                <a:path h="130606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05" t="0" r="-905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29184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Full Size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383280" y="3511296"/>
            <a:ext cx="5394960" cy="950976"/>
            <a:chOff x="0" y="0"/>
            <a:chExt cx="7193280" cy="126796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1932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63" r="0" b="-60462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383280" y="3482721"/>
            <a:ext cx="5394960" cy="979551"/>
            <a:chOff x="0" y="0"/>
            <a:chExt cx="7193280" cy="13060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93280" cy="1306068"/>
            </a:xfrm>
            <a:custGeom>
              <a:avLst/>
              <a:gdLst/>
              <a:ahLst/>
              <a:cxnLst/>
              <a:rect r="r" b="b" t="t" l="l"/>
              <a:pathLst>
                <a:path h="130606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15" r="0" b="-5731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19328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~2.96 million papers (full JSON)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58368" y="4462272"/>
            <a:ext cx="8321040" cy="950976"/>
            <a:chOff x="0" y="0"/>
            <a:chExt cx="11094720" cy="126796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0947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0F9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77824" y="4462272"/>
            <a:ext cx="2468880" cy="950976"/>
            <a:chOff x="0" y="0"/>
            <a:chExt cx="3291840" cy="126796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918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0" r="0" b="-55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77824" y="4433697"/>
            <a:ext cx="2468880" cy="979551"/>
            <a:chOff x="0" y="0"/>
            <a:chExt cx="3291840" cy="130606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291840" cy="1306068"/>
            </a:xfrm>
            <a:custGeom>
              <a:avLst/>
              <a:gdLst/>
              <a:ahLst/>
              <a:cxnLst/>
              <a:rect r="r" b="b" t="t" l="l"/>
              <a:pathLst>
                <a:path h="130606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05" t="0" r="-905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329184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Format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3383280" y="4462272"/>
            <a:ext cx="5394960" cy="950976"/>
            <a:chOff x="0" y="0"/>
            <a:chExt cx="7193280" cy="126796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1932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63" r="0" b="-60462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3383280" y="4433697"/>
            <a:ext cx="5394960" cy="979551"/>
            <a:chOff x="0" y="0"/>
            <a:chExt cx="7193280" cy="13060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193280" cy="1306068"/>
            </a:xfrm>
            <a:custGeom>
              <a:avLst/>
              <a:gdLst/>
              <a:ahLst/>
              <a:cxnLst/>
              <a:rect r="r" b="b" t="t" l="l"/>
              <a:pathLst>
                <a:path h="130606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15" r="0" b="-5731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719328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JSONL — one paper per line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58368" y="5413248"/>
            <a:ext cx="8321040" cy="950976"/>
            <a:chOff x="0" y="0"/>
            <a:chExt cx="11094720" cy="12679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0947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77824" y="5413248"/>
            <a:ext cx="2468880" cy="950976"/>
            <a:chOff x="0" y="0"/>
            <a:chExt cx="3291840" cy="126796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2918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0" r="0" b="-55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877824" y="5384673"/>
            <a:ext cx="2468880" cy="979551"/>
            <a:chOff x="0" y="0"/>
            <a:chExt cx="3291840" cy="130606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291840" cy="1306068"/>
            </a:xfrm>
            <a:custGeom>
              <a:avLst/>
              <a:gdLst/>
              <a:ahLst/>
              <a:cxnLst/>
              <a:rect r="r" b="b" t="t" l="l"/>
              <a:pathLst>
                <a:path h="130606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05" t="0" r="-905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329184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Time Range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3383280" y="5413248"/>
            <a:ext cx="5394960" cy="950976"/>
            <a:chOff x="0" y="0"/>
            <a:chExt cx="7193280" cy="126796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1932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63" r="0" b="-60462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3383280" y="5384673"/>
            <a:ext cx="5394960" cy="979551"/>
            <a:chOff x="0" y="0"/>
            <a:chExt cx="7193280" cy="130606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193280" cy="1306068"/>
            </a:xfrm>
            <a:custGeom>
              <a:avLst/>
              <a:gdLst/>
              <a:ahLst/>
              <a:cxnLst/>
              <a:rect r="r" b="b" t="t" l="l"/>
              <a:pathLst>
                <a:path h="130606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15" r="0" b="-5731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719328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1991 – 2024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58368" y="6364224"/>
            <a:ext cx="8321040" cy="950976"/>
            <a:chOff x="0" y="0"/>
            <a:chExt cx="11094720" cy="126796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0947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0F9FF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877824" y="6364224"/>
            <a:ext cx="2468880" cy="950976"/>
            <a:chOff x="0" y="0"/>
            <a:chExt cx="3291840" cy="126796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2918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0" r="0" b="-55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877824" y="6335649"/>
            <a:ext cx="2468880" cy="979551"/>
            <a:chOff x="0" y="0"/>
            <a:chExt cx="3291840" cy="130606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291840" cy="1306068"/>
            </a:xfrm>
            <a:custGeom>
              <a:avLst/>
              <a:gdLst/>
              <a:ahLst/>
              <a:cxnLst/>
              <a:rect r="r" b="b" t="t" l="l"/>
              <a:pathLst>
                <a:path h="130606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05" t="0" r="-905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329184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Field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3383280" y="6364224"/>
            <a:ext cx="5394960" cy="950976"/>
            <a:chOff x="0" y="0"/>
            <a:chExt cx="7193280" cy="126796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1932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63" r="0" b="-60462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3383280" y="6335649"/>
            <a:ext cx="5394960" cy="979551"/>
            <a:chOff x="0" y="0"/>
            <a:chExt cx="7193280" cy="130606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193280" cy="1306068"/>
            </a:xfrm>
            <a:custGeom>
              <a:avLst/>
              <a:gdLst/>
              <a:ahLst/>
              <a:cxnLst/>
              <a:rect r="r" b="b" t="t" l="l"/>
              <a:pathLst>
                <a:path h="130606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15" r="0" b="-5731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719328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Abstract (free-text)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58368" y="7315200"/>
            <a:ext cx="8321040" cy="950976"/>
            <a:chOff x="0" y="0"/>
            <a:chExt cx="11094720" cy="126796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0947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877824" y="7315200"/>
            <a:ext cx="2468880" cy="950976"/>
            <a:chOff x="0" y="0"/>
            <a:chExt cx="3291840" cy="126796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2918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0" r="0" b="-55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877824" y="7286625"/>
            <a:ext cx="2468880" cy="979551"/>
            <a:chOff x="0" y="0"/>
            <a:chExt cx="3291840" cy="130606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291840" cy="1306068"/>
            </a:xfrm>
            <a:custGeom>
              <a:avLst/>
              <a:gdLst/>
              <a:ahLst/>
              <a:cxnLst/>
              <a:rect r="r" b="b" t="t" l="l"/>
              <a:pathLst>
                <a:path h="130606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05" t="0" r="-905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329184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Categories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3383280" y="7315200"/>
            <a:ext cx="5394960" cy="950976"/>
            <a:chOff x="0" y="0"/>
            <a:chExt cx="7193280" cy="126796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1932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63" r="0" b="-60462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3383280" y="7286625"/>
            <a:ext cx="5394960" cy="979551"/>
            <a:chOff x="0" y="0"/>
            <a:chExt cx="7193280" cy="130606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193280" cy="1306068"/>
            </a:xfrm>
            <a:custGeom>
              <a:avLst/>
              <a:gdLst/>
              <a:ahLst/>
              <a:cxnLst/>
              <a:rect r="r" b="b" t="t" l="l"/>
              <a:pathLst>
                <a:path h="130606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15" r="0" b="-5731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719328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CS, Physics, Maths, Biology, Econ…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58368" y="8266176"/>
            <a:ext cx="8321040" cy="950976"/>
            <a:chOff x="0" y="0"/>
            <a:chExt cx="11094720" cy="126796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10947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0F9FF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877824" y="8266176"/>
            <a:ext cx="2468880" cy="950976"/>
            <a:chOff x="0" y="0"/>
            <a:chExt cx="3291840" cy="126796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2918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0" r="0" b="-550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877824" y="8237601"/>
            <a:ext cx="2468880" cy="979551"/>
            <a:chOff x="0" y="0"/>
            <a:chExt cx="3291840" cy="130606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291840" cy="1306068"/>
            </a:xfrm>
            <a:custGeom>
              <a:avLst/>
              <a:gdLst/>
              <a:ahLst/>
              <a:cxnLst/>
              <a:rect r="r" b="b" t="t" l="l"/>
              <a:pathLst>
                <a:path h="130606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05" t="0" r="-905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329184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Processing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3383280" y="8266176"/>
            <a:ext cx="5394960" cy="950976"/>
            <a:chOff x="0" y="0"/>
            <a:chExt cx="7193280" cy="126796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1932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63" r="0" b="-60462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3383280" y="8237601"/>
            <a:ext cx="5394960" cy="979551"/>
            <a:chOff x="0" y="0"/>
            <a:chExt cx="7193280" cy="130606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193280" cy="1306068"/>
            </a:xfrm>
            <a:custGeom>
              <a:avLst/>
              <a:gdLst/>
              <a:ahLst/>
              <a:cxnLst/>
              <a:rect r="r" b="b" t="t" l="l"/>
              <a:pathLst>
                <a:path h="130606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15" r="0" b="-5731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719328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50,000-paper chunks (RAM-safe)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363456" y="1682496"/>
            <a:ext cx="8229600" cy="7955280"/>
            <a:chOff x="0" y="0"/>
            <a:chExt cx="10972800" cy="106070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972800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9363456" y="1682496"/>
            <a:ext cx="8229600" cy="731520"/>
            <a:chOff x="0" y="0"/>
            <a:chExt cx="10972800" cy="97536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972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B1E3E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9601200" y="1682496"/>
            <a:ext cx="7973568" cy="731520"/>
            <a:chOff x="0" y="0"/>
            <a:chExt cx="10631424" cy="97536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631424" cy="975360"/>
            </a:xfrm>
            <a:custGeom>
              <a:avLst/>
              <a:gdLst/>
              <a:ahLst/>
              <a:cxnLst/>
              <a:rect r="r" b="b" t="t" l="l"/>
              <a:pathLst>
                <a:path h="975360" w="10631424">
                  <a:moveTo>
                    <a:pt x="0" y="0"/>
                  </a:moveTo>
                  <a:lnTo>
                    <a:pt x="10631424" y="0"/>
                  </a:lnTo>
                  <a:lnTo>
                    <a:pt x="1063142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239" r="0" b="-162238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601200" y="1646777"/>
            <a:ext cx="7973568" cy="767239"/>
            <a:chOff x="0" y="0"/>
            <a:chExt cx="10631424" cy="1022985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631424" cy="1022985"/>
            </a:xfrm>
            <a:custGeom>
              <a:avLst/>
              <a:gdLst/>
              <a:ahLst/>
              <a:cxnLst/>
              <a:rect r="r" b="b" t="t" l="l"/>
              <a:pathLst>
                <a:path h="1022985" w="10631424">
                  <a:moveTo>
                    <a:pt x="0" y="0"/>
                  </a:moveTo>
                  <a:lnTo>
                    <a:pt x="10631424" y="0"/>
                  </a:lnTo>
                  <a:lnTo>
                    <a:pt x="10631424" y="1022985"/>
                  </a:lnTo>
                  <a:lnTo>
                    <a:pt x="0" y="10229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499" r="0" b="-152499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10631424" cy="1070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5EEA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Preprocessing Pipeline  (spaCy  en_core_web_sm)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601200" y="2743200"/>
            <a:ext cx="658368" cy="658368"/>
            <a:chOff x="0" y="0"/>
            <a:chExt cx="877824" cy="87782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9601200" y="2743200"/>
            <a:ext cx="658368" cy="658368"/>
            <a:chOff x="0" y="0"/>
            <a:chExt cx="877824" cy="877824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9601200" y="2714625"/>
            <a:ext cx="658368" cy="686943"/>
            <a:chOff x="0" y="0"/>
            <a:chExt cx="877824" cy="915924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877824" cy="915924"/>
            </a:xfrm>
            <a:custGeom>
              <a:avLst/>
              <a:gdLst/>
              <a:ahLst/>
              <a:cxnLst/>
              <a:rect r="r" b="b" t="t" l="l"/>
              <a:pathLst>
                <a:path h="9159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15924"/>
                  </a:lnTo>
                  <a:lnTo>
                    <a:pt x="0" y="915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872" t="0" r="-83872" b="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877824" cy="954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0424160" y="2633472"/>
            <a:ext cx="6986016" cy="950976"/>
            <a:chOff x="0" y="0"/>
            <a:chExt cx="9314688" cy="126796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3146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040" r="0" b="-93039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0424160" y="2604897"/>
            <a:ext cx="6986016" cy="979551"/>
            <a:chOff x="0" y="0"/>
            <a:chExt cx="9314688" cy="130606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9314688" cy="1306068"/>
            </a:xfrm>
            <a:custGeom>
              <a:avLst/>
              <a:gdLst/>
              <a:ahLst/>
              <a:cxnLst/>
              <a:rect r="r" b="b" t="t" l="l"/>
              <a:pathLst>
                <a:path h="1306068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964" r="0" b="-88964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9314688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Newline removal  (\n → space)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9911334" y="3401568"/>
            <a:ext cx="38100" cy="329184"/>
            <a:chOff x="0" y="0"/>
            <a:chExt cx="50800" cy="43891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0800" cy="438912"/>
            </a:xfrm>
            <a:custGeom>
              <a:avLst/>
              <a:gdLst/>
              <a:ahLst/>
              <a:cxnLst/>
              <a:rect r="r" b="b" t="t" l="l"/>
              <a:pathLst>
                <a:path h="438912" w="50800">
                  <a:moveTo>
                    <a:pt x="50800" y="355600"/>
                  </a:moveTo>
                  <a:lnTo>
                    <a:pt x="50800" y="438912"/>
                  </a:lnTo>
                  <a:lnTo>
                    <a:pt x="0" y="438912"/>
                  </a:lnTo>
                  <a:lnTo>
                    <a:pt x="0" y="355600"/>
                  </a:lnTo>
                  <a:close/>
                  <a:moveTo>
                    <a:pt x="50800" y="0"/>
                  </a:moveTo>
                  <a:lnTo>
                    <a:pt x="508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9601200" y="3730752"/>
            <a:ext cx="658368" cy="658368"/>
            <a:chOff x="0" y="0"/>
            <a:chExt cx="877824" cy="877824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9601200" y="3730752"/>
            <a:ext cx="658368" cy="658368"/>
            <a:chOff x="0" y="0"/>
            <a:chExt cx="877824" cy="877824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9601200" y="3702177"/>
            <a:ext cx="658368" cy="686943"/>
            <a:chOff x="0" y="0"/>
            <a:chExt cx="877824" cy="91592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877824" cy="915924"/>
            </a:xfrm>
            <a:custGeom>
              <a:avLst/>
              <a:gdLst/>
              <a:ahLst/>
              <a:cxnLst/>
              <a:rect r="r" b="b" t="t" l="l"/>
              <a:pathLst>
                <a:path h="9159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15924"/>
                  </a:lnTo>
                  <a:lnTo>
                    <a:pt x="0" y="915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872" t="0" r="-83872" b="0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877824" cy="954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0424160" y="3621024"/>
            <a:ext cx="6986016" cy="950976"/>
            <a:chOff x="0" y="0"/>
            <a:chExt cx="9314688" cy="126796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93146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040" r="0" b="-93039"/>
              </a:stretch>
            </a:blip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10424160" y="3592449"/>
            <a:ext cx="6986016" cy="979551"/>
            <a:chOff x="0" y="0"/>
            <a:chExt cx="9314688" cy="1306068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9314688" cy="1306068"/>
            </a:xfrm>
            <a:custGeom>
              <a:avLst/>
              <a:gdLst/>
              <a:ahLst/>
              <a:cxnLst/>
              <a:rect r="r" b="b" t="t" l="l"/>
              <a:pathLst>
                <a:path h="1306068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964" r="0" b="-88964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9314688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LaTeX math removal  ($...$  stripped)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9911334" y="4389120"/>
            <a:ext cx="38100" cy="329184"/>
            <a:chOff x="0" y="0"/>
            <a:chExt cx="50800" cy="43891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50800" cy="438912"/>
            </a:xfrm>
            <a:custGeom>
              <a:avLst/>
              <a:gdLst/>
              <a:ahLst/>
              <a:cxnLst/>
              <a:rect r="r" b="b" t="t" l="l"/>
              <a:pathLst>
                <a:path h="438912" w="50800">
                  <a:moveTo>
                    <a:pt x="50800" y="355600"/>
                  </a:moveTo>
                  <a:lnTo>
                    <a:pt x="50800" y="438912"/>
                  </a:lnTo>
                  <a:lnTo>
                    <a:pt x="0" y="438912"/>
                  </a:lnTo>
                  <a:lnTo>
                    <a:pt x="0" y="355600"/>
                  </a:lnTo>
                  <a:close/>
                  <a:moveTo>
                    <a:pt x="50800" y="0"/>
                  </a:moveTo>
                  <a:lnTo>
                    <a:pt x="508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601200" y="4718304"/>
            <a:ext cx="658368" cy="658368"/>
            <a:chOff x="0" y="0"/>
            <a:chExt cx="877824" cy="877824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601200" y="4718304"/>
            <a:ext cx="658368" cy="658368"/>
            <a:chOff x="0" y="0"/>
            <a:chExt cx="877824" cy="877824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601200" y="4689729"/>
            <a:ext cx="658368" cy="686943"/>
            <a:chOff x="0" y="0"/>
            <a:chExt cx="877824" cy="915924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877824" cy="915924"/>
            </a:xfrm>
            <a:custGeom>
              <a:avLst/>
              <a:gdLst/>
              <a:ahLst/>
              <a:cxnLst/>
              <a:rect r="r" b="b" t="t" l="l"/>
              <a:pathLst>
                <a:path h="9159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15924"/>
                  </a:lnTo>
                  <a:lnTo>
                    <a:pt x="0" y="915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872" t="0" r="-83872" b="0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877824" cy="954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10424160" y="4608576"/>
            <a:ext cx="6986016" cy="950976"/>
            <a:chOff x="0" y="0"/>
            <a:chExt cx="9314688" cy="126796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93146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040" r="0" b="-93039"/>
              </a:stretch>
            </a:blip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10424160" y="4580001"/>
            <a:ext cx="6986016" cy="979551"/>
            <a:chOff x="0" y="0"/>
            <a:chExt cx="9314688" cy="1306068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9314688" cy="1306068"/>
            </a:xfrm>
            <a:custGeom>
              <a:avLst/>
              <a:gdLst/>
              <a:ahLst/>
              <a:cxnLst/>
              <a:rect r="r" b="b" t="t" l="l"/>
              <a:pathLst>
                <a:path h="1306068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964" r="0" b="-88964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38100"/>
              <a:ext cx="9314688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URL &amp; handle removal  (http, www, @)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9911334" y="5376672"/>
            <a:ext cx="38100" cy="329184"/>
            <a:chOff x="0" y="0"/>
            <a:chExt cx="50800" cy="438912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50800" cy="438912"/>
            </a:xfrm>
            <a:custGeom>
              <a:avLst/>
              <a:gdLst/>
              <a:ahLst/>
              <a:cxnLst/>
              <a:rect r="r" b="b" t="t" l="l"/>
              <a:pathLst>
                <a:path h="438912" w="50800">
                  <a:moveTo>
                    <a:pt x="50800" y="355600"/>
                  </a:moveTo>
                  <a:lnTo>
                    <a:pt x="50800" y="438912"/>
                  </a:lnTo>
                  <a:lnTo>
                    <a:pt x="0" y="438912"/>
                  </a:lnTo>
                  <a:lnTo>
                    <a:pt x="0" y="355600"/>
                  </a:lnTo>
                  <a:close/>
                  <a:moveTo>
                    <a:pt x="50800" y="0"/>
                  </a:moveTo>
                  <a:lnTo>
                    <a:pt x="508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9601200" y="5705856"/>
            <a:ext cx="658368" cy="658368"/>
            <a:chOff x="0" y="0"/>
            <a:chExt cx="877824" cy="877824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9601200" y="5705856"/>
            <a:ext cx="658368" cy="658368"/>
            <a:chOff x="0" y="0"/>
            <a:chExt cx="877824" cy="877824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9601200" y="5677281"/>
            <a:ext cx="658368" cy="686943"/>
            <a:chOff x="0" y="0"/>
            <a:chExt cx="877824" cy="915924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877824" cy="915924"/>
            </a:xfrm>
            <a:custGeom>
              <a:avLst/>
              <a:gdLst/>
              <a:ahLst/>
              <a:cxnLst/>
              <a:rect r="r" b="b" t="t" l="l"/>
              <a:pathLst>
                <a:path h="9159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15924"/>
                  </a:lnTo>
                  <a:lnTo>
                    <a:pt x="0" y="915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872" t="0" r="-83872" b="0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877824" cy="954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0424160" y="5596128"/>
            <a:ext cx="6986016" cy="950976"/>
            <a:chOff x="0" y="0"/>
            <a:chExt cx="9314688" cy="1267968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93146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040" r="0" b="-93039"/>
              </a:stretch>
            </a:blip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0424160" y="5567553"/>
            <a:ext cx="6986016" cy="979551"/>
            <a:chOff x="0" y="0"/>
            <a:chExt cx="9314688" cy="1306068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9314688" cy="1306068"/>
            </a:xfrm>
            <a:custGeom>
              <a:avLst/>
              <a:gdLst/>
              <a:ahLst/>
              <a:cxnLst/>
              <a:rect r="r" b="b" t="t" l="l"/>
              <a:pathLst>
                <a:path h="1306068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964" r="0" b="-88964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9314688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Non-alphabetic character removal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9911334" y="6364224"/>
            <a:ext cx="38100" cy="329184"/>
            <a:chOff x="0" y="0"/>
            <a:chExt cx="50800" cy="43891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50800" cy="438912"/>
            </a:xfrm>
            <a:custGeom>
              <a:avLst/>
              <a:gdLst/>
              <a:ahLst/>
              <a:cxnLst/>
              <a:rect r="r" b="b" t="t" l="l"/>
              <a:pathLst>
                <a:path h="438912" w="50800">
                  <a:moveTo>
                    <a:pt x="50800" y="355600"/>
                  </a:moveTo>
                  <a:lnTo>
                    <a:pt x="50800" y="438912"/>
                  </a:lnTo>
                  <a:lnTo>
                    <a:pt x="0" y="438912"/>
                  </a:lnTo>
                  <a:lnTo>
                    <a:pt x="0" y="355600"/>
                  </a:lnTo>
                  <a:close/>
                  <a:moveTo>
                    <a:pt x="50800" y="0"/>
                  </a:moveTo>
                  <a:lnTo>
                    <a:pt x="508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9601200" y="6693408"/>
            <a:ext cx="658368" cy="658368"/>
            <a:chOff x="0" y="0"/>
            <a:chExt cx="877824" cy="877824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9601200" y="6693408"/>
            <a:ext cx="658368" cy="658368"/>
            <a:chOff x="0" y="0"/>
            <a:chExt cx="877824" cy="877824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9601200" y="6664833"/>
            <a:ext cx="658368" cy="686943"/>
            <a:chOff x="0" y="0"/>
            <a:chExt cx="877824" cy="915924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877824" cy="915924"/>
            </a:xfrm>
            <a:custGeom>
              <a:avLst/>
              <a:gdLst/>
              <a:ahLst/>
              <a:cxnLst/>
              <a:rect r="r" b="b" t="t" l="l"/>
              <a:pathLst>
                <a:path h="9159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15924"/>
                  </a:lnTo>
                  <a:lnTo>
                    <a:pt x="0" y="915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872" t="0" r="-83872" b="0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38100"/>
              <a:ext cx="877824" cy="954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10424160" y="6583680"/>
            <a:ext cx="6986016" cy="950976"/>
            <a:chOff x="0" y="0"/>
            <a:chExt cx="9314688" cy="1267968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93146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040" r="0" b="-93039"/>
              </a:stretch>
            </a:blip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10424160" y="6555105"/>
            <a:ext cx="6986016" cy="979551"/>
            <a:chOff x="0" y="0"/>
            <a:chExt cx="9314688" cy="1306068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9314688" cy="1306068"/>
            </a:xfrm>
            <a:custGeom>
              <a:avLst/>
              <a:gdLst/>
              <a:ahLst/>
              <a:cxnLst/>
              <a:rect r="r" b="b" t="t" l="l"/>
              <a:pathLst>
                <a:path h="1306068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964" r="0" b="-88964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38100"/>
              <a:ext cx="9314688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Lowercasing + spaCy tokenisation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9911334" y="7351776"/>
            <a:ext cx="38100" cy="329184"/>
            <a:chOff x="0" y="0"/>
            <a:chExt cx="50800" cy="438912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50800" cy="438912"/>
            </a:xfrm>
            <a:custGeom>
              <a:avLst/>
              <a:gdLst/>
              <a:ahLst/>
              <a:cxnLst/>
              <a:rect r="r" b="b" t="t" l="l"/>
              <a:pathLst>
                <a:path h="438912" w="50800">
                  <a:moveTo>
                    <a:pt x="50800" y="355600"/>
                  </a:moveTo>
                  <a:lnTo>
                    <a:pt x="50800" y="438912"/>
                  </a:lnTo>
                  <a:lnTo>
                    <a:pt x="0" y="438912"/>
                  </a:lnTo>
                  <a:lnTo>
                    <a:pt x="0" y="355600"/>
                  </a:lnTo>
                  <a:close/>
                  <a:moveTo>
                    <a:pt x="50800" y="0"/>
                  </a:moveTo>
                  <a:lnTo>
                    <a:pt x="508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9601200" y="7680960"/>
            <a:ext cx="658368" cy="658368"/>
            <a:chOff x="0" y="0"/>
            <a:chExt cx="877824" cy="877824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9601200" y="7680960"/>
            <a:ext cx="658368" cy="658368"/>
            <a:chOff x="0" y="0"/>
            <a:chExt cx="877824" cy="877824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187" id="187"/>
          <p:cNvGrpSpPr/>
          <p:nvPr/>
        </p:nvGrpSpPr>
        <p:grpSpPr>
          <a:xfrm rot="0">
            <a:off x="9601200" y="7652385"/>
            <a:ext cx="658368" cy="686943"/>
            <a:chOff x="0" y="0"/>
            <a:chExt cx="877824" cy="915924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877824" cy="915924"/>
            </a:xfrm>
            <a:custGeom>
              <a:avLst/>
              <a:gdLst/>
              <a:ahLst/>
              <a:cxnLst/>
              <a:rect r="r" b="b" t="t" l="l"/>
              <a:pathLst>
                <a:path h="9159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15924"/>
                  </a:lnTo>
                  <a:lnTo>
                    <a:pt x="0" y="915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872" t="0" r="-83872" b="0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-38100"/>
              <a:ext cx="877824" cy="954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10424160" y="7571232"/>
            <a:ext cx="6986016" cy="950976"/>
            <a:chOff x="0" y="0"/>
            <a:chExt cx="9314688" cy="1267968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93146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040" r="0" b="-93039"/>
              </a:stretch>
            </a:blipFill>
          </p:spPr>
        </p:sp>
      </p:grpSp>
      <p:grpSp>
        <p:nvGrpSpPr>
          <p:cNvPr name="Group 192" id="192"/>
          <p:cNvGrpSpPr/>
          <p:nvPr/>
        </p:nvGrpSpPr>
        <p:grpSpPr>
          <a:xfrm rot="0">
            <a:off x="10424160" y="7542657"/>
            <a:ext cx="6986016" cy="979551"/>
            <a:chOff x="0" y="0"/>
            <a:chExt cx="9314688" cy="1306068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9314688" cy="1306068"/>
            </a:xfrm>
            <a:custGeom>
              <a:avLst/>
              <a:gdLst/>
              <a:ahLst/>
              <a:cxnLst/>
              <a:rect r="r" b="b" t="t" l="l"/>
              <a:pathLst>
                <a:path h="1306068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964" r="0" b="-88964"/>
              </a:stretch>
            </a:blipFill>
          </p:spPr>
        </p:sp>
        <p:sp>
          <p:nvSpPr>
            <p:cNvPr name="TextBox 194" id="194"/>
            <p:cNvSpPr txBox="true"/>
            <p:nvPr/>
          </p:nvSpPr>
          <p:spPr>
            <a:xfrm>
              <a:off x="0" y="-38100"/>
              <a:ext cx="9314688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Stopword removal  (token.is_stop)</a:t>
              </a:r>
            </a:p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9911334" y="8339328"/>
            <a:ext cx="38100" cy="329184"/>
            <a:chOff x="0" y="0"/>
            <a:chExt cx="50800" cy="438912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50800" cy="438912"/>
            </a:xfrm>
            <a:custGeom>
              <a:avLst/>
              <a:gdLst/>
              <a:ahLst/>
              <a:cxnLst/>
              <a:rect r="r" b="b" t="t" l="l"/>
              <a:pathLst>
                <a:path h="438912" w="50800">
                  <a:moveTo>
                    <a:pt x="50800" y="355600"/>
                  </a:moveTo>
                  <a:lnTo>
                    <a:pt x="50800" y="438912"/>
                  </a:lnTo>
                  <a:lnTo>
                    <a:pt x="0" y="438912"/>
                  </a:lnTo>
                  <a:lnTo>
                    <a:pt x="0" y="355600"/>
                  </a:lnTo>
                  <a:close/>
                  <a:moveTo>
                    <a:pt x="50800" y="0"/>
                  </a:moveTo>
                  <a:lnTo>
                    <a:pt x="508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9601200" y="8668512"/>
            <a:ext cx="658368" cy="658368"/>
            <a:chOff x="0" y="0"/>
            <a:chExt cx="877824" cy="877824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99" id="199"/>
          <p:cNvGrpSpPr/>
          <p:nvPr/>
        </p:nvGrpSpPr>
        <p:grpSpPr>
          <a:xfrm rot="0">
            <a:off x="9601200" y="8668512"/>
            <a:ext cx="658368" cy="658368"/>
            <a:chOff x="0" y="0"/>
            <a:chExt cx="877824" cy="877824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201" id="201"/>
          <p:cNvGrpSpPr/>
          <p:nvPr/>
        </p:nvGrpSpPr>
        <p:grpSpPr>
          <a:xfrm rot="0">
            <a:off x="9601200" y="8639937"/>
            <a:ext cx="658368" cy="686943"/>
            <a:chOff x="0" y="0"/>
            <a:chExt cx="877824" cy="915924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877824" cy="915924"/>
            </a:xfrm>
            <a:custGeom>
              <a:avLst/>
              <a:gdLst/>
              <a:ahLst/>
              <a:cxnLst/>
              <a:rect r="r" b="b" t="t" l="l"/>
              <a:pathLst>
                <a:path h="9159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15924"/>
                  </a:lnTo>
                  <a:lnTo>
                    <a:pt x="0" y="915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872" t="0" r="-83872" b="0"/>
              </a:stretch>
            </a:blipFill>
          </p:spPr>
        </p:sp>
        <p:sp>
          <p:nvSpPr>
            <p:cNvPr name="TextBox 203" id="203"/>
            <p:cNvSpPr txBox="true"/>
            <p:nvPr/>
          </p:nvSpPr>
          <p:spPr>
            <a:xfrm>
              <a:off x="0" y="-38100"/>
              <a:ext cx="877824" cy="954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204" id="204"/>
          <p:cNvGrpSpPr/>
          <p:nvPr/>
        </p:nvGrpSpPr>
        <p:grpSpPr>
          <a:xfrm rot="0">
            <a:off x="10424160" y="8558784"/>
            <a:ext cx="6986016" cy="950976"/>
            <a:chOff x="0" y="0"/>
            <a:chExt cx="9314688" cy="1267968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93146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040" r="0" b="-93039"/>
              </a:stretch>
            </a:blip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10424160" y="8530209"/>
            <a:ext cx="6986016" cy="979551"/>
            <a:chOff x="0" y="0"/>
            <a:chExt cx="9314688" cy="130606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9314688" cy="1306068"/>
            </a:xfrm>
            <a:custGeom>
              <a:avLst/>
              <a:gdLst/>
              <a:ahLst/>
              <a:cxnLst/>
              <a:rect r="r" b="b" t="t" l="l"/>
              <a:pathLst>
                <a:path h="1306068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964" r="0" b="-88964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38100"/>
              <a:ext cx="9314688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Lemmatisation  (token.lemma_)  +  len &gt; 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26464"/>
            <a:chOff x="0" y="0"/>
            <a:chExt cx="24384000" cy="19019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B1E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775936" y="0"/>
            <a:ext cx="512064" cy="1426464"/>
            <a:chOff x="0" y="0"/>
            <a:chExt cx="682752" cy="19019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2752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41248" y="-899951"/>
            <a:ext cx="16642080" cy="3226375"/>
            <a:chOff x="0" y="0"/>
            <a:chExt cx="22189440" cy="43018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89439" cy="4301871"/>
            </a:xfrm>
            <a:custGeom>
              <a:avLst/>
              <a:gdLst/>
              <a:ahLst/>
              <a:cxnLst/>
              <a:rect r="r" b="b" t="t" l="l"/>
              <a:pathLst>
                <a:path h="4301871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4301871"/>
                  </a:lnTo>
                  <a:lnTo>
                    <a:pt x="0" y="43018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436" r="0" b="-5043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41248" y="-907094"/>
            <a:ext cx="16642080" cy="3233518"/>
            <a:chOff x="0" y="0"/>
            <a:chExt cx="22189440" cy="43113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9439" cy="4311353"/>
            </a:xfrm>
            <a:custGeom>
              <a:avLst/>
              <a:gdLst/>
              <a:ahLst/>
              <a:cxnLst/>
              <a:rect r="r" b="b" t="t" l="l"/>
              <a:pathLst>
                <a:path h="4311353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4311353"/>
                  </a:lnTo>
                  <a:lnTo>
                    <a:pt x="0" y="43113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84" r="0" b="-5028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2189440" cy="43208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Feature Extraction &amp; Model Architecture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12064" y="1719072"/>
            <a:ext cx="3072384" cy="1828800"/>
            <a:chOff x="0" y="0"/>
            <a:chExt cx="4096512" cy="2438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96512" cy="2438400"/>
            </a:xfrm>
            <a:custGeom>
              <a:avLst/>
              <a:gdLst/>
              <a:ahLst/>
              <a:cxnLst/>
              <a:rect r="r" b="b" t="t" l="l"/>
              <a:pathLst>
                <a:path h="24384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B1E3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12064" y="1719072"/>
            <a:ext cx="3072384" cy="182880"/>
            <a:chOff x="0" y="0"/>
            <a:chExt cx="4096512" cy="243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96512" cy="243840"/>
            </a:xfrm>
            <a:custGeom>
              <a:avLst/>
              <a:gdLst/>
              <a:ahLst/>
              <a:cxnLst/>
              <a:rect r="r" b="b" t="t" l="l"/>
              <a:pathLst>
                <a:path h="2438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12064" y="1901952"/>
            <a:ext cx="3072384" cy="914400"/>
            <a:chOff x="0" y="0"/>
            <a:chExt cx="4096512" cy="1219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96512" cy="1219200"/>
            </a:xfrm>
            <a:custGeom>
              <a:avLst/>
              <a:gdLst/>
              <a:ahLst/>
              <a:cxnLst/>
              <a:rect r="r" b="b" t="t" l="l"/>
              <a:pathLst>
                <a:path h="12192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23" r="0" b="-1542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12064" y="1873377"/>
            <a:ext cx="3072384" cy="942975"/>
            <a:chOff x="0" y="0"/>
            <a:chExt cx="4096512" cy="12573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96512" cy="1257300"/>
            </a:xfrm>
            <a:custGeom>
              <a:avLst/>
              <a:gdLst/>
              <a:ahLst/>
              <a:cxnLst/>
              <a:rect r="r" b="b" t="t" l="l"/>
              <a:pathLst>
                <a:path h="12573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85" r="0" b="-134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096512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Cleaned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Abstracts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03504" y="2804922"/>
            <a:ext cx="2889504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5EEAD4"/>
                </a:solidFill>
                <a:latin typeface="Calibri (MS)"/>
                <a:ea typeface="Calibri (MS)"/>
                <a:cs typeface="Calibri (MS)"/>
                <a:sym typeface="Calibri (MS)"/>
              </a:rPr>
              <a:t>cleaned_arxiv</a:t>
            </a:r>
          </a:p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5EEAD4"/>
                </a:solidFill>
                <a:latin typeface="Calibri (MS)"/>
                <a:ea typeface="Calibri (MS)"/>
                <a:cs typeface="Calibri (MS)"/>
                <a:sym typeface="Calibri (MS)"/>
              </a:rPr>
              <a:t>_full.csv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584477" y="2608069"/>
            <a:ext cx="402336" cy="50768"/>
            <a:chOff x="0" y="0"/>
            <a:chExt cx="536448" cy="676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6448" cy="67691"/>
            </a:xfrm>
            <a:custGeom>
              <a:avLst/>
              <a:gdLst/>
              <a:ahLst/>
              <a:cxnLst/>
              <a:rect r="r" b="b" t="t" l="l"/>
              <a:pathLst>
                <a:path h="67691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986784" y="1719072"/>
            <a:ext cx="3072384" cy="1828800"/>
            <a:chOff x="0" y="0"/>
            <a:chExt cx="4096512" cy="2438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96512" cy="2438400"/>
            </a:xfrm>
            <a:custGeom>
              <a:avLst/>
              <a:gdLst/>
              <a:ahLst/>
              <a:cxnLst/>
              <a:rect r="r" b="b" t="t" l="l"/>
              <a:pathLst>
                <a:path h="24384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986784" y="1719072"/>
            <a:ext cx="3072384" cy="182880"/>
            <a:chOff x="0" y="0"/>
            <a:chExt cx="4096512" cy="243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96512" cy="243840"/>
            </a:xfrm>
            <a:custGeom>
              <a:avLst/>
              <a:gdLst/>
              <a:ahLst/>
              <a:cxnLst/>
              <a:rect r="r" b="b" t="t" l="l"/>
              <a:pathLst>
                <a:path h="2438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986784" y="1901952"/>
            <a:ext cx="3072384" cy="914400"/>
            <a:chOff x="0" y="0"/>
            <a:chExt cx="4096512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096512" cy="1219200"/>
            </a:xfrm>
            <a:custGeom>
              <a:avLst/>
              <a:gdLst/>
              <a:ahLst/>
              <a:cxnLst/>
              <a:rect r="r" b="b" t="t" l="l"/>
              <a:pathLst>
                <a:path h="12192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23" r="0" b="-1542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986784" y="1873377"/>
            <a:ext cx="3072384" cy="942975"/>
            <a:chOff x="0" y="0"/>
            <a:chExt cx="4096512" cy="12573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96512" cy="1257300"/>
            </a:xfrm>
            <a:custGeom>
              <a:avLst/>
              <a:gdLst/>
              <a:ahLst/>
              <a:cxnLst/>
              <a:rect r="r" b="b" t="t" l="l"/>
              <a:pathLst>
                <a:path h="12573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85" r="0" b="-1348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096512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TF-IDF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Vectorisation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4078224" y="2804922"/>
            <a:ext cx="2889504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5EEAD4"/>
                </a:solidFill>
                <a:latin typeface="Calibri (MS)"/>
                <a:ea typeface="Calibri (MS)"/>
                <a:cs typeface="Calibri (MS)"/>
                <a:sym typeface="Calibri (MS)"/>
              </a:rPr>
              <a:t>max 10K features</a:t>
            </a:r>
          </a:p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5EEAD4"/>
                </a:solidFill>
                <a:latin typeface="Calibri (MS)"/>
                <a:ea typeface="Calibri (MS)"/>
                <a:cs typeface="Calibri (MS)"/>
                <a:sym typeface="Calibri (MS)"/>
              </a:rPr>
              <a:t>NB 02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059197" y="2608069"/>
            <a:ext cx="402336" cy="50768"/>
            <a:chOff x="0" y="0"/>
            <a:chExt cx="536448" cy="6769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6448" cy="67691"/>
            </a:xfrm>
            <a:custGeom>
              <a:avLst/>
              <a:gdLst/>
              <a:ahLst/>
              <a:cxnLst/>
              <a:rect r="r" b="b" t="t" l="l"/>
              <a:pathLst>
                <a:path h="67691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461504" y="1719072"/>
            <a:ext cx="3072384" cy="1828800"/>
            <a:chOff x="0" y="0"/>
            <a:chExt cx="4096512" cy="2438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96512" cy="2438400"/>
            </a:xfrm>
            <a:custGeom>
              <a:avLst/>
              <a:gdLst/>
              <a:ahLst/>
              <a:cxnLst/>
              <a:rect r="r" b="b" t="t" l="l"/>
              <a:pathLst>
                <a:path h="24384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461504" y="1719072"/>
            <a:ext cx="3072384" cy="182880"/>
            <a:chOff x="0" y="0"/>
            <a:chExt cx="4096512" cy="243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096512" cy="243840"/>
            </a:xfrm>
            <a:custGeom>
              <a:avLst/>
              <a:gdLst/>
              <a:ahLst/>
              <a:cxnLst/>
              <a:rect r="r" b="b" t="t" l="l"/>
              <a:pathLst>
                <a:path h="2438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461504" y="1901952"/>
            <a:ext cx="3072384" cy="914400"/>
            <a:chOff x="0" y="0"/>
            <a:chExt cx="4096512" cy="1219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096512" cy="1219200"/>
            </a:xfrm>
            <a:custGeom>
              <a:avLst/>
              <a:gdLst/>
              <a:ahLst/>
              <a:cxnLst/>
              <a:rect r="r" b="b" t="t" l="l"/>
              <a:pathLst>
                <a:path h="12192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23" r="0" b="-15423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461504" y="1873377"/>
            <a:ext cx="3072384" cy="942975"/>
            <a:chOff x="0" y="0"/>
            <a:chExt cx="4096512" cy="12573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96512" cy="1257300"/>
            </a:xfrm>
            <a:custGeom>
              <a:avLst/>
              <a:gdLst/>
              <a:ahLst/>
              <a:cxnLst/>
              <a:rect r="r" b="b" t="t" l="l"/>
              <a:pathLst>
                <a:path h="12573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85" r="0" b="-1348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096512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Word2Vec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(Optional)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7552944" y="2804922"/>
            <a:ext cx="2889504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5EEAD4"/>
                </a:solidFill>
                <a:latin typeface="Calibri (MS)"/>
                <a:ea typeface="Calibri (MS)"/>
                <a:cs typeface="Calibri (MS)"/>
                <a:sym typeface="Calibri (MS)"/>
              </a:rPr>
              <a:t>v=100, w=5</a:t>
            </a:r>
          </a:p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5EEAD4"/>
                </a:solidFill>
                <a:latin typeface="Calibri (MS)"/>
                <a:ea typeface="Calibri (MS)"/>
                <a:cs typeface="Calibri (MS)"/>
                <a:sym typeface="Calibri (MS)"/>
              </a:rPr>
              <a:t>NB 02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0533917" y="2608069"/>
            <a:ext cx="402336" cy="50768"/>
            <a:chOff x="0" y="0"/>
            <a:chExt cx="536448" cy="676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6448" cy="67691"/>
            </a:xfrm>
            <a:custGeom>
              <a:avLst/>
              <a:gdLst/>
              <a:ahLst/>
              <a:cxnLst/>
              <a:rect r="r" b="b" t="t" l="l"/>
              <a:pathLst>
                <a:path h="67691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936224" y="1719072"/>
            <a:ext cx="3072384" cy="1828800"/>
            <a:chOff x="0" y="0"/>
            <a:chExt cx="4096512" cy="2438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096512" cy="2438400"/>
            </a:xfrm>
            <a:custGeom>
              <a:avLst/>
              <a:gdLst/>
              <a:ahLst/>
              <a:cxnLst/>
              <a:rect r="r" b="b" t="t" l="l"/>
              <a:pathLst>
                <a:path h="24384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47857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936224" y="1719072"/>
            <a:ext cx="3072384" cy="182880"/>
            <a:chOff x="0" y="0"/>
            <a:chExt cx="4096512" cy="2438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096512" cy="243840"/>
            </a:xfrm>
            <a:custGeom>
              <a:avLst/>
              <a:gdLst/>
              <a:ahLst/>
              <a:cxnLst/>
              <a:rect r="r" b="b" t="t" l="l"/>
              <a:pathLst>
                <a:path h="2438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936224" y="1901952"/>
            <a:ext cx="3072384" cy="914400"/>
            <a:chOff x="0" y="0"/>
            <a:chExt cx="4096512" cy="1219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096512" cy="1219200"/>
            </a:xfrm>
            <a:custGeom>
              <a:avLst/>
              <a:gdLst/>
              <a:ahLst/>
              <a:cxnLst/>
              <a:rect r="r" b="b" t="t" l="l"/>
              <a:pathLst>
                <a:path h="12192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23" r="0" b="-15423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936224" y="1873377"/>
            <a:ext cx="3072384" cy="942975"/>
            <a:chOff x="0" y="0"/>
            <a:chExt cx="4096512" cy="12573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096512" cy="1257300"/>
            </a:xfrm>
            <a:custGeom>
              <a:avLst/>
              <a:gdLst/>
              <a:ahLst/>
              <a:cxnLst/>
              <a:rect r="r" b="b" t="t" l="l"/>
              <a:pathLst>
                <a:path h="12573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85" r="0" b="-1348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096512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MiniBatch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NMF  K=20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1027664" y="2804922"/>
            <a:ext cx="2889504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5EEAD4"/>
                </a:solidFill>
                <a:latin typeface="Calibri (MS)"/>
                <a:ea typeface="Calibri (MS)"/>
                <a:cs typeface="Calibri (MS)"/>
                <a:sym typeface="Calibri (MS)"/>
              </a:rPr>
              <a:t>Doc-Topic W</a:t>
            </a:r>
          </a:p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5EEAD4"/>
                </a:solidFill>
                <a:latin typeface="Calibri (MS)"/>
                <a:ea typeface="Calibri (MS)"/>
                <a:cs typeface="Calibri (MS)"/>
                <a:sym typeface="Calibri (MS)"/>
              </a:rPr>
              <a:t>NB 03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4008637" y="2608069"/>
            <a:ext cx="402336" cy="50768"/>
            <a:chOff x="0" y="0"/>
            <a:chExt cx="536448" cy="6769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36448" cy="67691"/>
            </a:xfrm>
            <a:custGeom>
              <a:avLst/>
              <a:gdLst/>
              <a:ahLst/>
              <a:cxnLst/>
              <a:rect r="r" b="b" t="t" l="l"/>
              <a:pathLst>
                <a:path h="67691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410944" y="1719072"/>
            <a:ext cx="3072384" cy="1828800"/>
            <a:chOff x="0" y="0"/>
            <a:chExt cx="4096512" cy="2438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096512" cy="2438400"/>
            </a:xfrm>
            <a:custGeom>
              <a:avLst/>
              <a:gdLst/>
              <a:ahLst/>
              <a:cxnLst/>
              <a:rect r="r" b="b" t="t" l="l"/>
              <a:pathLst>
                <a:path h="24384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6D28D9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4410944" y="1719072"/>
            <a:ext cx="3072384" cy="182880"/>
            <a:chOff x="0" y="0"/>
            <a:chExt cx="4096512" cy="2438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096512" cy="243840"/>
            </a:xfrm>
            <a:custGeom>
              <a:avLst/>
              <a:gdLst/>
              <a:ahLst/>
              <a:cxnLst/>
              <a:rect r="r" b="b" t="t" l="l"/>
              <a:pathLst>
                <a:path h="2438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4410944" y="1901952"/>
            <a:ext cx="3072384" cy="914400"/>
            <a:chOff x="0" y="0"/>
            <a:chExt cx="4096512" cy="12192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096512" cy="1219200"/>
            </a:xfrm>
            <a:custGeom>
              <a:avLst/>
              <a:gdLst/>
              <a:ahLst/>
              <a:cxnLst/>
              <a:rect r="r" b="b" t="t" l="l"/>
              <a:pathLst>
                <a:path h="12192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23" r="0" b="-15423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4410944" y="1873377"/>
            <a:ext cx="3072384" cy="942975"/>
            <a:chOff x="0" y="0"/>
            <a:chExt cx="4096512" cy="12573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096512" cy="1257300"/>
            </a:xfrm>
            <a:custGeom>
              <a:avLst/>
              <a:gdLst/>
              <a:ahLst/>
              <a:cxnLst/>
              <a:rect r="r" b="b" t="t" l="l"/>
              <a:pathLst>
                <a:path h="12573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85" r="0" b="-1348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096512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t-SNE +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pyLDAvis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4502384" y="2804922"/>
            <a:ext cx="2889504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5EEAD4"/>
                </a:solidFill>
                <a:latin typeface="Calibri (MS)"/>
                <a:ea typeface="Calibri (MS)"/>
                <a:cs typeface="Calibri (MS)"/>
                <a:sym typeface="Calibri (MS)"/>
              </a:rPr>
              <a:t>Visualisation</a:t>
            </a:r>
          </a:p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5EEAD4"/>
                </a:solidFill>
                <a:latin typeface="Calibri (MS)"/>
                <a:ea typeface="Calibri (MS)"/>
                <a:cs typeface="Calibri (MS)"/>
                <a:sym typeface="Calibri (MS)"/>
              </a:rPr>
              <a:t>NB 04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658368" y="3913632"/>
            <a:ext cx="8412480" cy="2743200"/>
            <a:chOff x="0" y="0"/>
            <a:chExt cx="11216640" cy="36576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216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58368" y="3913632"/>
            <a:ext cx="219456" cy="2743200"/>
            <a:chOff x="0" y="0"/>
            <a:chExt cx="292608" cy="36576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92608" cy="3657600"/>
            </a:xfrm>
            <a:custGeom>
              <a:avLst/>
              <a:gdLst/>
              <a:ahLst/>
              <a:cxnLst/>
              <a:rect r="r" b="b" t="t" l="l"/>
              <a:pathLst>
                <a:path h="36576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sp>
        <p:nvSpPr>
          <p:cNvPr name="Freeform 73" id="73"/>
          <p:cNvSpPr/>
          <p:nvPr/>
        </p:nvSpPr>
        <p:spPr>
          <a:xfrm flipH="false" flipV="false" rot="0">
            <a:off x="7412231" y="4083815"/>
            <a:ext cx="1524952" cy="500824"/>
          </a:xfrm>
          <a:custGeom>
            <a:avLst/>
            <a:gdLst/>
            <a:ahLst/>
            <a:cxnLst/>
            <a:rect r="r" b="b" t="t" l="l"/>
            <a:pathLst>
              <a:path h="500824" w="1524952">
                <a:moveTo>
                  <a:pt x="0" y="0"/>
                </a:moveTo>
                <a:lnTo>
                  <a:pt x="1524953" y="0"/>
                </a:lnTo>
                <a:lnTo>
                  <a:pt x="1524953" y="500825"/>
                </a:lnTo>
                <a:lnTo>
                  <a:pt x="0" y="500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7424928" y="4096512"/>
            <a:ext cx="1499616" cy="475488"/>
            <a:chOff x="0" y="0"/>
            <a:chExt cx="1999488" cy="6339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999488" cy="633984"/>
            </a:xfrm>
            <a:custGeom>
              <a:avLst/>
              <a:gdLst/>
              <a:ahLst/>
              <a:cxnLst/>
              <a:rect r="r" b="b" t="t" l="l"/>
              <a:pathLst>
                <a:path h="633984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10" r="0" b="-1141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7424928" y="4067937"/>
            <a:ext cx="1499616" cy="504063"/>
            <a:chOff x="0" y="0"/>
            <a:chExt cx="1999488" cy="67208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999488" cy="672084"/>
            </a:xfrm>
            <a:custGeom>
              <a:avLst/>
              <a:gdLst/>
              <a:ahLst/>
              <a:cxnLst/>
              <a:rect r="r" b="b" t="t" l="l"/>
              <a:pathLst>
                <a:path h="672084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69" r="0" b="-796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999488" cy="710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NB 02</a:t>
              </a: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115568" y="4028694"/>
            <a:ext cx="6071616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0B1E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TF-IDF Vectorisation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15568" y="4651248"/>
            <a:ext cx="7717536" cy="1850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2"/>
              </a:lnSpc>
            </a:pPr>
            <a:r>
              <a:rPr lang="en-US" sz="176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sklearn TfidfVectorizer: max_features=10,000 · min_df=10 · max_df=0.7 · stop_words='english'. Produces sparse document-term matrix (~2.96M × 10K). Saved as tfidf_features.npz + tfidf_feature_names.pkl.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9509760" y="3913632"/>
            <a:ext cx="8412480" cy="2743200"/>
            <a:chOff x="0" y="0"/>
            <a:chExt cx="11216640" cy="36576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1216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509760" y="3913632"/>
            <a:ext cx="219456" cy="2743200"/>
            <a:chOff x="0" y="0"/>
            <a:chExt cx="292608" cy="36576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92608" cy="3657600"/>
            </a:xfrm>
            <a:custGeom>
              <a:avLst/>
              <a:gdLst/>
              <a:ahLst/>
              <a:cxnLst/>
              <a:rect r="r" b="b" t="t" l="l"/>
              <a:pathLst>
                <a:path h="36576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sp>
        <p:nvSpPr>
          <p:cNvPr name="Freeform 85" id="85"/>
          <p:cNvSpPr/>
          <p:nvPr/>
        </p:nvSpPr>
        <p:spPr>
          <a:xfrm flipH="false" flipV="false" rot="0">
            <a:off x="16263623" y="4083815"/>
            <a:ext cx="1524953" cy="500824"/>
          </a:xfrm>
          <a:custGeom>
            <a:avLst/>
            <a:gdLst/>
            <a:ahLst/>
            <a:cxnLst/>
            <a:rect r="r" b="b" t="t" l="l"/>
            <a:pathLst>
              <a:path h="500824" w="1524953">
                <a:moveTo>
                  <a:pt x="0" y="0"/>
                </a:moveTo>
                <a:lnTo>
                  <a:pt x="1524953" y="0"/>
                </a:lnTo>
                <a:lnTo>
                  <a:pt x="1524953" y="500825"/>
                </a:lnTo>
                <a:lnTo>
                  <a:pt x="0" y="500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6" id="86"/>
          <p:cNvGrpSpPr/>
          <p:nvPr/>
        </p:nvGrpSpPr>
        <p:grpSpPr>
          <a:xfrm rot="0">
            <a:off x="16276320" y="4096512"/>
            <a:ext cx="1499616" cy="475488"/>
            <a:chOff x="0" y="0"/>
            <a:chExt cx="1999488" cy="6339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999488" cy="633984"/>
            </a:xfrm>
            <a:custGeom>
              <a:avLst/>
              <a:gdLst/>
              <a:ahLst/>
              <a:cxnLst/>
              <a:rect r="r" b="b" t="t" l="l"/>
              <a:pathLst>
                <a:path h="633984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10" r="0" b="-1141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6276320" y="4067937"/>
            <a:ext cx="1499616" cy="504063"/>
            <a:chOff x="0" y="0"/>
            <a:chExt cx="1999488" cy="67208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999488" cy="672084"/>
            </a:xfrm>
            <a:custGeom>
              <a:avLst/>
              <a:gdLst/>
              <a:ahLst/>
              <a:cxnLst/>
              <a:rect r="r" b="b" t="t" l="l"/>
              <a:pathLst>
                <a:path h="672084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69" r="0" b="-7969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1999488" cy="710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34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NB 02</a:t>
              </a: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9966960" y="4028694"/>
            <a:ext cx="6071616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0B1E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Word2Vec  (Optional Embeddings)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9966960" y="4651248"/>
            <a:ext cx="7717536" cy="1850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2"/>
              </a:lnSpc>
            </a:pPr>
            <a:r>
              <a:rPr lang="en-US" sz="176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Gensim Word2Vec trained on tokenised abstracts: vector_size=100 · window=5 · min_count=5 · workers=4. Provides dense semantic word representations as an optional complement to TF-IDF.</a:t>
            </a:r>
          </a:p>
        </p:txBody>
      </p:sp>
      <p:grpSp>
        <p:nvGrpSpPr>
          <p:cNvPr name="Group 93" id="93"/>
          <p:cNvGrpSpPr/>
          <p:nvPr/>
        </p:nvGrpSpPr>
        <p:grpSpPr>
          <a:xfrm rot="0">
            <a:off x="658368" y="6931152"/>
            <a:ext cx="8412480" cy="2743200"/>
            <a:chOff x="0" y="0"/>
            <a:chExt cx="11216640" cy="36576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1216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658368" y="6931152"/>
            <a:ext cx="219456" cy="2743200"/>
            <a:chOff x="0" y="0"/>
            <a:chExt cx="292608" cy="36576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92608" cy="3657600"/>
            </a:xfrm>
            <a:custGeom>
              <a:avLst/>
              <a:gdLst/>
              <a:ahLst/>
              <a:cxnLst/>
              <a:rect r="r" b="b" t="t" l="l"/>
              <a:pathLst>
                <a:path h="36576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047857"/>
            </a:solidFill>
          </p:spPr>
        </p:sp>
      </p:grpSp>
      <p:sp>
        <p:nvSpPr>
          <p:cNvPr name="Freeform 97" id="97"/>
          <p:cNvSpPr/>
          <p:nvPr/>
        </p:nvSpPr>
        <p:spPr>
          <a:xfrm flipH="false" flipV="false" rot="0">
            <a:off x="7412231" y="7101335"/>
            <a:ext cx="1524952" cy="500825"/>
          </a:xfrm>
          <a:custGeom>
            <a:avLst/>
            <a:gdLst/>
            <a:ahLst/>
            <a:cxnLst/>
            <a:rect r="r" b="b" t="t" l="l"/>
            <a:pathLst>
              <a:path h="500825" w="1524952">
                <a:moveTo>
                  <a:pt x="0" y="0"/>
                </a:moveTo>
                <a:lnTo>
                  <a:pt x="1524953" y="0"/>
                </a:lnTo>
                <a:lnTo>
                  <a:pt x="1524953" y="500825"/>
                </a:lnTo>
                <a:lnTo>
                  <a:pt x="0" y="500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8" id="98"/>
          <p:cNvGrpSpPr/>
          <p:nvPr/>
        </p:nvGrpSpPr>
        <p:grpSpPr>
          <a:xfrm rot="0">
            <a:off x="7424928" y="7114032"/>
            <a:ext cx="1499616" cy="475488"/>
            <a:chOff x="0" y="0"/>
            <a:chExt cx="1999488" cy="63398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999488" cy="633984"/>
            </a:xfrm>
            <a:custGeom>
              <a:avLst/>
              <a:gdLst/>
              <a:ahLst/>
              <a:cxnLst/>
              <a:rect r="r" b="b" t="t" l="l"/>
              <a:pathLst>
                <a:path h="633984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10" r="0" b="-11410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7424928" y="7085457"/>
            <a:ext cx="1499616" cy="504063"/>
            <a:chOff x="0" y="0"/>
            <a:chExt cx="1999488" cy="67208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999488" cy="672084"/>
            </a:xfrm>
            <a:custGeom>
              <a:avLst/>
              <a:gdLst/>
              <a:ahLst/>
              <a:cxnLst/>
              <a:rect r="r" b="b" t="t" l="l"/>
              <a:pathLst>
                <a:path h="672084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69" r="0" b="-7969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1999488" cy="710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47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NB 03</a:t>
              </a: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1115568" y="7046214"/>
            <a:ext cx="6071616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0B1E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MiniBatchNMF  (K = 20 Topics)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115568" y="7668768"/>
            <a:ext cx="7717536" cy="1850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2"/>
              </a:lnSpc>
            </a:pPr>
            <a:r>
              <a:rPr lang="en-US" sz="176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sklearn MiniBatchNMF: n_components=20 · batch_size=1,024 · max_iter=200 · random_state=42. Factorises TF-IDF matrix V ≈ W × H. W = document–topic weights; H = topic–word weights. Memory-efficient for 2.96M docs.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9509760" y="6931152"/>
            <a:ext cx="8412480" cy="2743200"/>
            <a:chOff x="0" y="0"/>
            <a:chExt cx="11216640" cy="36576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1216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509760" y="6931152"/>
            <a:ext cx="219456" cy="2743200"/>
            <a:chOff x="0" y="0"/>
            <a:chExt cx="292608" cy="36576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92608" cy="3657600"/>
            </a:xfrm>
            <a:custGeom>
              <a:avLst/>
              <a:gdLst/>
              <a:ahLst/>
              <a:cxnLst/>
              <a:rect r="r" b="b" t="t" l="l"/>
              <a:pathLst>
                <a:path h="36576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6D28D9"/>
            </a:solidFill>
          </p:spPr>
        </p:sp>
      </p:grpSp>
      <p:sp>
        <p:nvSpPr>
          <p:cNvPr name="Freeform 109" id="109"/>
          <p:cNvSpPr/>
          <p:nvPr/>
        </p:nvSpPr>
        <p:spPr>
          <a:xfrm flipH="false" flipV="false" rot="0">
            <a:off x="16263623" y="7101335"/>
            <a:ext cx="1524953" cy="500825"/>
          </a:xfrm>
          <a:custGeom>
            <a:avLst/>
            <a:gdLst/>
            <a:ahLst/>
            <a:cxnLst/>
            <a:rect r="r" b="b" t="t" l="l"/>
            <a:pathLst>
              <a:path h="500825" w="1524953">
                <a:moveTo>
                  <a:pt x="0" y="0"/>
                </a:moveTo>
                <a:lnTo>
                  <a:pt x="1524953" y="0"/>
                </a:lnTo>
                <a:lnTo>
                  <a:pt x="1524953" y="500825"/>
                </a:lnTo>
                <a:lnTo>
                  <a:pt x="0" y="500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0" id="110"/>
          <p:cNvGrpSpPr/>
          <p:nvPr/>
        </p:nvGrpSpPr>
        <p:grpSpPr>
          <a:xfrm rot="0">
            <a:off x="16276320" y="7114032"/>
            <a:ext cx="1499616" cy="475488"/>
            <a:chOff x="0" y="0"/>
            <a:chExt cx="1999488" cy="63398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999488" cy="633984"/>
            </a:xfrm>
            <a:custGeom>
              <a:avLst/>
              <a:gdLst/>
              <a:ahLst/>
              <a:cxnLst/>
              <a:rect r="r" b="b" t="t" l="l"/>
              <a:pathLst>
                <a:path h="633984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10" r="0" b="-11410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6276320" y="7085457"/>
            <a:ext cx="1499616" cy="504063"/>
            <a:chOff x="0" y="0"/>
            <a:chExt cx="1999488" cy="672084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999488" cy="672084"/>
            </a:xfrm>
            <a:custGeom>
              <a:avLst/>
              <a:gdLst/>
              <a:ahLst/>
              <a:cxnLst/>
              <a:rect r="r" b="b" t="t" l="l"/>
              <a:pathLst>
                <a:path h="672084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69" r="0" b="-7969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1999488" cy="710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6D28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NB 04</a:t>
              </a:r>
            </a:p>
          </p:txBody>
        </p:sp>
      </p:grpSp>
      <p:sp>
        <p:nvSpPr>
          <p:cNvPr name="TextBox 115" id="115"/>
          <p:cNvSpPr txBox="true"/>
          <p:nvPr/>
        </p:nvSpPr>
        <p:spPr>
          <a:xfrm rot="0">
            <a:off x="9966960" y="7046214"/>
            <a:ext cx="607161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0B1E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T-SNE + pyLDAvis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9966960" y="7668768"/>
            <a:ext cx="7717536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2"/>
              </a:lnSpc>
            </a:pPr>
            <a:r>
              <a:rPr lang="en-US" sz="176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T-SNE: perplexity=40 · n_iter=1000 · n_components=2 · random_state=42. Applied to 35K sampled papers from doc-topic matrix W. pyLDAvis uses mds='tsne' internally for interactive topic bubble visualisation.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26464"/>
            <a:chOff x="0" y="0"/>
            <a:chExt cx="24384000" cy="19019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B1E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775936" y="0"/>
            <a:ext cx="512064" cy="1426464"/>
            <a:chOff x="0" y="0"/>
            <a:chExt cx="682752" cy="19019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2752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0"/>
            <a:ext cx="16642080" cy="1426464"/>
            <a:chOff x="0" y="0"/>
            <a:chExt cx="22189440" cy="19019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894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167" r="0" b="-17716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-7144"/>
            <a:ext cx="16642080" cy="1433608"/>
            <a:chOff x="0" y="0"/>
            <a:chExt cx="22189440" cy="19114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9439" cy="1911477"/>
            </a:xfrm>
            <a:custGeom>
              <a:avLst/>
              <a:gdLst/>
              <a:ahLst/>
              <a:cxnLst/>
              <a:rect r="r" b="b" t="t" l="l"/>
              <a:pathLst>
                <a:path h="1911477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911477"/>
                  </a:lnTo>
                  <a:lnTo>
                    <a:pt x="0" y="19114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192" r="0" b="-17619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2189440" cy="1921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Visualisation — t-SNE &amp; pyLDAvis  (NB 04)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8368" y="1645920"/>
            <a:ext cx="8412480" cy="8010144"/>
            <a:chOff x="0" y="0"/>
            <a:chExt cx="11216640" cy="106801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16640" cy="10680192"/>
            </a:xfrm>
            <a:custGeom>
              <a:avLst/>
              <a:gdLst/>
              <a:ahLst/>
              <a:cxnLst/>
              <a:rect r="r" b="b" t="t" l="l"/>
              <a:pathLst>
                <a:path h="106801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680192"/>
                  </a:lnTo>
                  <a:lnTo>
                    <a:pt x="0" y="1068019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58368" y="1645920"/>
            <a:ext cx="8412480" cy="768096"/>
            <a:chOff x="0" y="0"/>
            <a:chExt cx="11216640" cy="10241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2166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B1E3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1645920"/>
            <a:ext cx="8119872" cy="768096"/>
            <a:chOff x="0" y="0"/>
            <a:chExt cx="10826496" cy="10241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2649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826496">
                  <a:moveTo>
                    <a:pt x="0" y="0"/>
                  </a:moveTo>
                  <a:lnTo>
                    <a:pt x="10826496" y="0"/>
                  </a:lnTo>
                  <a:lnTo>
                    <a:pt x="1082649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842" r="0" b="-15584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1610201"/>
            <a:ext cx="8119872" cy="803815"/>
            <a:chOff x="0" y="0"/>
            <a:chExt cx="10826496" cy="10717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26496" cy="1071753"/>
            </a:xfrm>
            <a:custGeom>
              <a:avLst/>
              <a:gdLst/>
              <a:ahLst/>
              <a:cxnLst/>
              <a:rect r="r" b="b" t="t" l="l"/>
              <a:pathLst>
                <a:path h="1071753" w="10826496">
                  <a:moveTo>
                    <a:pt x="0" y="0"/>
                  </a:moveTo>
                  <a:lnTo>
                    <a:pt x="10826496" y="0"/>
                  </a:lnTo>
                  <a:lnTo>
                    <a:pt x="10826496" y="1071753"/>
                  </a:lnTo>
                  <a:lnTo>
                    <a:pt x="0" y="10717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831" r="0" b="-14683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826496" cy="1119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5EEA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t-SNE  —  t-Distributed Stochastic Neighbour Embedding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8368" y="2560320"/>
            <a:ext cx="8412480" cy="841248"/>
            <a:chOff x="0" y="0"/>
            <a:chExt cx="11216640" cy="11216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2166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0F9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77824" y="2560320"/>
            <a:ext cx="2231136" cy="841248"/>
            <a:chOff x="0" y="0"/>
            <a:chExt cx="2974848" cy="11216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748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1" r="0" b="-164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77824" y="2531745"/>
            <a:ext cx="2231136" cy="869823"/>
            <a:chOff x="0" y="0"/>
            <a:chExt cx="2974848" cy="11597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74848" cy="1159764"/>
            </a:xfrm>
            <a:custGeom>
              <a:avLst/>
              <a:gdLst/>
              <a:ahLst/>
              <a:cxnLst/>
              <a:rect r="r" b="b" t="t" l="l"/>
              <a:pathLst>
                <a:path h="11597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" t="0" r="-19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97484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Library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145536" y="2560320"/>
            <a:ext cx="5705856" cy="841248"/>
            <a:chOff x="0" y="0"/>
            <a:chExt cx="7607808" cy="11216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07808" cy="1121664"/>
            </a:xfrm>
            <a:custGeom>
              <a:avLst/>
              <a:gdLst/>
              <a:ahLst/>
              <a:cxnLst/>
              <a:rect r="r" b="b" t="t" l="l"/>
              <a:pathLst>
                <a:path h="1121664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067" r="0" b="-82067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145536" y="2531745"/>
            <a:ext cx="5705856" cy="869823"/>
            <a:chOff x="0" y="0"/>
            <a:chExt cx="7607808" cy="11597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07808" cy="1159764"/>
            </a:xfrm>
            <a:custGeom>
              <a:avLst/>
              <a:gdLst/>
              <a:ahLst/>
              <a:cxnLst/>
              <a:rect r="r" b="b" t="t" l="l"/>
              <a:pathLst>
                <a:path h="1159764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17" r="0" b="-7781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60780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scikit-learn  (pip install scikit-learn)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58368" y="3401568"/>
            <a:ext cx="8412480" cy="841248"/>
            <a:chOff x="0" y="0"/>
            <a:chExt cx="11216640" cy="11216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2166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77824" y="3401568"/>
            <a:ext cx="2231136" cy="841248"/>
            <a:chOff x="0" y="0"/>
            <a:chExt cx="2974848" cy="112166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748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1" r="0" b="-1641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77824" y="3372993"/>
            <a:ext cx="2231136" cy="869823"/>
            <a:chOff x="0" y="0"/>
            <a:chExt cx="2974848" cy="11597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974848" cy="1159764"/>
            </a:xfrm>
            <a:custGeom>
              <a:avLst/>
              <a:gdLst/>
              <a:ahLst/>
              <a:cxnLst/>
              <a:rect r="r" b="b" t="t" l="l"/>
              <a:pathLst>
                <a:path h="11597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" t="0" r="-19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97484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perplexity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145536" y="3401568"/>
            <a:ext cx="5705856" cy="841248"/>
            <a:chOff x="0" y="0"/>
            <a:chExt cx="7607808" cy="112166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607808" cy="1121664"/>
            </a:xfrm>
            <a:custGeom>
              <a:avLst/>
              <a:gdLst/>
              <a:ahLst/>
              <a:cxnLst/>
              <a:rect r="r" b="b" t="t" l="l"/>
              <a:pathLst>
                <a:path h="1121664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067" r="0" b="-82067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145536" y="3372993"/>
            <a:ext cx="5705856" cy="869823"/>
            <a:chOff x="0" y="0"/>
            <a:chExt cx="7607808" cy="11597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607808" cy="1159764"/>
            </a:xfrm>
            <a:custGeom>
              <a:avLst/>
              <a:gdLst/>
              <a:ahLst/>
              <a:cxnLst/>
              <a:rect r="r" b="b" t="t" l="l"/>
              <a:pathLst>
                <a:path h="1159764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17" r="0" b="-7781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60780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58368" y="4242816"/>
            <a:ext cx="8412480" cy="841248"/>
            <a:chOff x="0" y="0"/>
            <a:chExt cx="11216640" cy="112166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2166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0F9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77824" y="4242816"/>
            <a:ext cx="2231136" cy="841248"/>
            <a:chOff x="0" y="0"/>
            <a:chExt cx="2974848" cy="112166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748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1" r="0" b="-1641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77824" y="4214241"/>
            <a:ext cx="2231136" cy="869823"/>
            <a:chOff x="0" y="0"/>
            <a:chExt cx="2974848" cy="11597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974848" cy="1159764"/>
            </a:xfrm>
            <a:custGeom>
              <a:avLst/>
              <a:gdLst/>
              <a:ahLst/>
              <a:cxnLst/>
              <a:rect r="r" b="b" t="t" l="l"/>
              <a:pathLst>
                <a:path h="11597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" t="0" r="-19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297484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n_iter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3145536" y="4242816"/>
            <a:ext cx="5705856" cy="841248"/>
            <a:chOff x="0" y="0"/>
            <a:chExt cx="7607808" cy="112166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607808" cy="1121664"/>
            </a:xfrm>
            <a:custGeom>
              <a:avLst/>
              <a:gdLst/>
              <a:ahLst/>
              <a:cxnLst/>
              <a:rect r="r" b="b" t="t" l="l"/>
              <a:pathLst>
                <a:path h="1121664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067" r="0" b="-82067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3145536" y="4214241"/>
            <a:ext cx="5705856" cy="869823"/>
            <a:chOff x="0" y="0"/>
            <a:chExt cx="7607808" cy="11597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607808" cy="1159764"/>
            </a:xfrm>
            <a:custGeom>
              <a:avLst/>
              <a:gdLst/>
              <a:ahLst/>
              <a:cxnLst/>
              <a:rect r="r" b="b" t="t" l="l"/>
              <a:pathLst>
                <a:path h="1159764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17" r="0" b="-7781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760780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1000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58368" y="5084064"/>
            <a:ext cx="8412480" cy="841248"/>
            <a:chOff x="0" y="0"/>
            <a:chExt cx="11216640" cy="112166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2166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77824" y="5084064"/>
            <a:ext cx="2231136" cy="841248"/>
            <a:chOff x="0" y="0"/>
            <a:chExt cx="2974848" cy="11216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9748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1" r="0" b="-1641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877824" y="5055489"/>
            <a:ext cx="2231136" cy="869823"/>
            <a:chOff x="0" y="0"/>
            <a:chExt cx="2974848" cy="11597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974848" cy="1159764"/>
            </a:xfrm>
            <a:custGeom>
              <a:avLst/>
              <a:gdLst/>
              <a:ahLst/>
              <a:cxnLst/>
              <a:rect r="r" b="b" t="t" l="l"/>
              <a:pathLst>
                <a:path h="11597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" t="0" r="-19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97484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n_components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3145536" y="5084064"/>
            <a:ext cx="5705856" cy="841248"/>
            <a:chOff x="0" y="0"/>
            <a:chExt cx="7607808" cy="112166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607808" cy="1121664"/>
            </a:xfrm>
            <a:custGeom>
              <a:avLst/>
              <a:gdLst/>
              <a:ahLst/>
              <a:cxnLst/>
              <a:rect r="r" b="b" t="t" l="l"/>
              <a:pathLst>
                <a:path h="1121664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067" r="0" b="-82067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3145536" y="5055489"/>
            <a:ext cx="5705856" cy="869823"/>
            <a:chOff x="0" y="0"/>
            <a:chExt cx="7607808" cy="115976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607808" cy="1159764"/>
            </a:xfrm>
            <a:custGeom>
              <a:avLst/>
              <a:gdLst/>
              <a:ahLst/>
              <a:cxnLst/>
              <a:rect r="r" b="b" t="t" l="l"/>
              <a:pathLst>
                <a:path h="1159764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17" r="0" b="-7781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760780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 (2-D scatter output)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58368" y="5925312"/>
            <a:ext cx="8412480" cy="841248"/>
            <a:chOff x="0" y="0"/>
            <a:chExt cx="11216640" cy="112166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2166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0F9FF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877824" y="5925312"/>
            <a:ext cx="2231136" cy="841248"/>
            <a:chOff x="0" y="0"/>
            <a:chExt cx="2974848" cy="112166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9748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1" r="0" b="-1641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877824" y="5896737"/>
            <a:ext cx="2231136" cy="869823"/>
            <a:chOff x="0" y="0"/>
            <a:chExt cx="2974848" cy="115976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974848" cy="1159764"/>
            </a:xfrm>
            <a:custGeom>
              <a:avLst/>
              <a:gdLst/>
              <a:ahLst/>
              <a:cxnLst/>
              <a:rect r="r" b="b" t="t" l="l"/>
              <a:pathLst>
                <a:path h="11597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" t="0" r="-19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97484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random_state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3145536" y="5925312"/>
            <a:ext cx="5705856" cy="841248"/>
            <a:chOff x="0" y="0"/>
            <a:chExt cx="7607808" cy="112166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607808" cy="1121664"/>
            </a:xfrm>
            <a:custGeom>
              <a:avLst/>
              <a:gdLst/>
              <a:ahLst/>
              <a:cxnLst/>
              <a:rect r="r" b="b" t="t" l="l"/>
              <a:pathLst>
                <a:path h="1121664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067" r="0" b="-82067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3145536" y="5896737"/>
            <a:ext cx="5705856" cy="869823"/>
            <a:chOff x="0" y="0"/>
            <a:chExt cx="7607808" cy="115976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607808" cy="1159764"/>
            </a:xfrm>
            <a:custGeom>
              <a:avLst/>
              <a:gdLst/>
              <a:ahLst/>
              <a:cxnLst/>
              <a:rect r="r" b="b" t="t" l="l"/>
              <a:pathLst>
                <a:path h="1159764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17" r="0" b="-7781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760780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42  (reproducible)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58368" y="6766560"/>
            <a:ext cx="8412480" cy="841248"/>
            <a:chOff x="0" y="0"/>
            <a:chExt cx="11216640" cy="112166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2166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877824" y="6766560"/>
            <a:ext cx="2231136" cy="841248"/>
            <a:chOff x="0" y="0"/>
            <a:chExt cx="2974848" cy="112166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9748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1" r="0" b="-1641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877824" y="6737985"/>
            <a:ext cx="2231136" cy="869823"/>
            <a:chOff x="0" y="0"/>
            <a:chExt cx="2974848" cy="115976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974848" cy="1159764"/>
            </a:xfrm>
            <a:custGeom>
              <a:avLst/>
              <a:gdLst/>
              <a:ahLst/>
              <a:cxnLst/>
              <a:rect r="r" b="b" t="t" l="l"/>
              <a:pathLst>
                <a:path h="11597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" t="0" r="-19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297484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3145536" y="6766560"/>
            <a:ext cx="5705856" cy="841248"/>
            <a:chOff x="0" y="0"/>
            <a:chExt cx="7607808" cy="112166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607808" cy="1121664"/>
            </a:xfrm>
            <a:custGeom>
              <a:avLst/>
              <a:gdLst/>
              <a:ahLst/>
              <a:cxnLst/>
              <a:rect r="r" b="b" t="t" l="l"/>
              <a:pathLst>
                <a:path h="1121664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067" r="0" b="-82067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3145536" y="6737985"/>
            <a:ext cx="5705856" cy="869823"/>
            <a:chOff x="0" y="0"/>
            <a:chExt cx="7607808" cy="115976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607808" cy="1159764"/>
            </a:xfrm>
            <a:custGeom>
              <a:avLst/>
              <a:gdLst/>
              <a:ahLst/>
              <a:cxnLst/>
              <a:rect r="r" b="b" t="t" l="l"/>
              <a:pathLst>
                <a:path h="1159764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17" r="0" b="-7781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760780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  (doc-topic matrix, 50K sample)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58368" y="7607808"/>
            <a:ext cx="8412480" cy="841248"/>
            <a:chOff x="0" y="0"/>
            <a:chExt cx="11216640" cy="112166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12166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0F9FF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877824" y="7607808"/>
            <a:ext cx="2231136" cy="841248"/>
            <a:chOff x="0" y="0"/>
            <a:chExt cx="2974848" cy="112166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9748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1" r="0" b="-1641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877824" y="7579233"/>
            <a:ext cx="2231136" cy="869823"/>
            <a:chOff x="0" y="0"/>
            <a:chExt cx="2974848" cy="115976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974848" cy="1159764"/>
            </a:xfrm>
            <a:custGeom>
              <a:avLst/>
              <a:gdLst/>
              <a:ahLst/>
              <a:cxnLst/>
              <a:rect r="r" b="b" t="t" l="l"/>
              <a:pathLst>
                <a:path h="11597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" t="0" r="-19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297484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Sample size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3145536" y="7607808"/>
            <a:ext cx="5705856" cy="841248"/>
            <a:chOff x="0" y="0"/>
            <a:chExt cx="7607808" cy="112166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607808" cy="1121664"/>
            </a:xfrm>
            <a:custGeom>
              <a:avLst/>
              <a:gdLst/>
              <a:ahLst/>
              <a:cxnLst/>
              <a:rect r="r" b="b" t="t" l="l"/>
              <a:pathLst>
                <a:path h="1121664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067" r="0" b="-82067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3145536" y="7579233"/>
            <a:ext cx="5705856" cy="869823"/>
            <a:chOff x="0" y="0"/>
            <a:chExt cx="7607808" cy="115976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607808" cy="1159764"/>
            </a:xfrm>
            <a:custGeom>
              <a:avLst/>
              <a:gdLst/>
              <a:ahLst/>
              <a:cxnLst/>
              <a:rect r="r" b="b" t="t" l="l"/>
              <a:pathLst>
                <a:path h="1159764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17" r="0" b="-77817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760780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50,000 papers (proportional)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658368" y="8449056"/>
            <a:ext cx="8412480" cy="841248"/>
            <a:chOff x="0" y="0"/>
            <a:chExt cx="11216640" cy="112166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12166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877824" y="8449056"/>
            <a:ext cx="2231136" cy="841248"/>
            <a:chOff x="0" y="0"/>
            <a:chExt cx="2974848" cy="112166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9748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1" r="0" b="-1641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877824" y="8420481"/>
            <a:ext cx="2231136" cy="869823"/>
            <a:chOff x="0" y="0"/>
            <a:chExt cx="2974848" cy="1159764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974848" cy="1159764"/>
            </a:xfrm>
            <a:custGeom>
              <a:avLst/>
              <a:gdLst/>
              <a:ahLst/>
              <a:cxnLst/>
              <a:rect r="r" b="b" t="t" l="l"/>
              <a:pathLst>
                <a:path h="11597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" t="0" r="-19" b="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297484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3145536" y="8449056"/>
            <a:ext cx="5705856" cy="841248"/>
            <a:chOff x="0" y="0"/>
            <a:chExt cx="7607808" cy="112166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7607808" cy="1121664"/>
            </a:xfrm>
            <a:custGeom>
              <a:avLst/>
              <a:gdLst/>
              <a:ahLst/>
              <a:cxnLst/>
              <a:rect r="r" b="b" t="t" l="l"/>
              <a:pathLst>
                <a:path h="1121664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067" r="0" b="-82067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3145536" y="8420481"/>
            <a:ext cx="5705856" cy="869823"/>
            <a:chOff x="0" y="0"/>
            <a:chExt cx="7607808" cy="115976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607808" cy="1159764"/>
            </a:xfrm>
            <a:custGeom>
              <a:avLst/>
              <a:gdLst/>
              <a:ahLst/>
              <a:cxnLst/>
              <a:rect r="r" b="b" t="t" l="l"/>
              <a:pathLst>
                <a:path h="1159764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17" r="0" b="-77817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760780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tsne_x, tsne_y columns → saved PNG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473184" y="1645920"/>
            <a:ext cx="8156448" cy="8010144"/>
            <a:chOff x="0" y="0"/>
            <a:chExt cx="10875264" cy="1068019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0875264" cy="10680192"/>
            </a:xfrm>
            <a:custGeom>
              <a:avLst/>
              <a:gdLst/>
              <a:ahLst/>
              <a:cxnLst/>
              <a:rect r="r" b="b" t="t" l="l"/>
              <a:pathLst>
                <a:path h="10680192" w="10875264">
                  <a:moveTo>
                    <a:pt x="0" y="0"/>
                  </a:moveTo>
                  <a:lnTo>
                    <a:pt x="10875264" y="0"/>
                  </a:lnTo>
                  <a:lnTo>
                    <a:pt x="10875264" y="10680192"/>
                  </a:lnTo>
                  <a:lnTo>
                    <a:pt x="0" y="1068019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9473184" y="1645920"/>
            <a:ext cx="8156448" cy="768096"/>
            <a:chOff x="0" y="0"/>
            <a:chExt cx="10875264" cy="102412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0875264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875264">
                  <a:moveTo>
                    <a:pt x="0" y="0"/>
                  </a:moveTo>
                  <a:lnTo>
                    <a:pt x="10875264" y="0"/>
                  </a:lnTo>
                  <a:lnTo>
                    <a:pt x="10875264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9692640" y="1645920"/>
            <a:ext cx="7900416" cy="768096"/>
            <a:chOff x="0" y="0"/>
            <a:chExt cx="10533888" cy="102412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053388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277" r="0" b="-150279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692640" y="1610201"/>
            <a:ext cx="7900416" cy="803815"/>
            <a:chOff x="0" y="0"/>
            <a:chExt cx="10533888" cy="1071753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0533888" cy="1071753"/>
            </a:xfrm>
            <a:custGeom>
              <a:avLst/>
              <a:gdLst/>
              <a:ahLst/>
              <a:cxnLst/>
              <a:rect r="r" b="b" t="t" l="l"/>
              <a:pathLst>
                <a:path h="1071753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071753"/>
                  </a:lnTo>
                  <a:lnTo>
                    <a:pt x="0" y="10717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511" r="0" b="-141511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10533888" cy="1119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pyLDAvis  —  Interactive Topic Explorer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9473184" y="2560320"/>
            <a:ext cx="8156448" cy="841248"/>
            <a:chOff x="0" y="0"/>
            <a:chExt cx="10875264" cy="112166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08752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875264">
                  <a:moveTo>
                    <a:pt x="0" y="0"/>
                  </a:moveTo>
                  <a:lnTo>
                    <a:pt x="10875264" y="0"/>
                  </a:lnTo>
                  <a:lnTo>
                    <a:pt x="1087526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0F9FF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9692640" y="2560320"/>
            <a:ext cx="2231136" cy="841248"/>
            <a:chOff x="0" y="0"/>
            <a:chExt cx="2974848" cy="1121664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9748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1" r="0" b="-1641"/>
              </a:stretch>
            </a:blip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9692640" y="2531745"/>
            <a:ext cx="2231136" cy="869823"/>
            <a:chOff x="0" y="0"/>
            <a:chExt cx="2974848" cy="1159764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974848" cy="1159764"/>
            </a:xfrm>
            <a:custGeom>
              <a:avLst/>
              <a:gdLst/>
              <a:ahLst/>
              <a:cxnLst/>
              <a:rect r="r" b="b" t="t" l="l"/>
              <a:pathLst>
                <a:path h="11597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" t="0" r="-19" b="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297484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Library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1960352" y="2560320"/>
            <a:ext cx="5449824" cy="841248"/>
            <a:chOff x="0" y="0"/>
            <a:chExt cx="7266432" cy="1121664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7266432" cy="1121664"/>
            </a:xfrm>
            <a:custGeom>
              <a:avLst/>
              <a:gdLst/>
              <a:ahLst/>
              <a:cxnLst/>
              <a:rect r="r" b="b" t="t" l="l"/>
              <a:pathLst>
                <a:path h="1121664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141" r="0" b="-76141"/>
              </a:stretch>
            </a:blip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1960352" y="2531745"/>
            <a:ext cx="5449824" cy="869823"/>
            <a:chOff x="0" y="0"/>
            <a:chExt cx="7266432" cy="115976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7266432" cy="1159764"/>
            </a:xfrm>
            <a:custGeom>
              <a:avLst/>
              <a:gdLst/>
              <a:ahLst/>
              <a:cxnLst/>
              <a:rect r="r" b="b" t="t" l="l"/>
              <a:pathLst>
                <a:path h="1159764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82" r="0" b="-72082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7266432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pyLDAvis  3.4.x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9473184" y="3401568"/>
            <a:ext cx="8156448" cy="841248"/>
            <a:chOff x="0" y="0"/>
            <a:chExt cx="10875264" cy="1121664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08752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875264">
                  <a:moveTo>
                    <a:pt x="0" y="0"/>
                  </a:moveTo>
                  <a:lnTo>
                    <a:pt x="10875264" y="0"/>
                  </a:lnTo>
                  <a:lnTo>
                    <a:pt x="1087526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692640" y="3401568"/>
            <a:ext cx="2231136" cy="841248"/>
            <a:chOff x="0" y="0"/>
            <a:chExt cx="2974848" cy="1121664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9748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1" r="0" b="-1641"/>
              </a:stretch>
            </a:blip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692640" y="3372993"/>
            <a:ext cx="2231136" cy="869823"/>
            <a:chOff x="0" y="0"/>
            <a:chExt cx="2974848" cy="1159764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974848" cy="1159764"/>
            </a:xfrm>
            <a:custGeom>
              <a:avLst/>
              <a:gdLst/>
              <a:ahLst/>
              <a:cxnLst/>
              <a:rect r="r" b="b" t="t" l="l"/>
              <a:pathLst>
                <a:path h="11597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" t="0" r="-19" b="0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38100"/>
              <a:ext cx="297484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MDS method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1960352" y="3401568"/>
            <a:ext cx="5449824" cy="841248"/>
            <a:chOff x="0" y="0"/>
            <a:chExt cx="7266432" cy="1121664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7266432" cy="1121664"/>
            </a:xfrm>
            <a:custGeom>
              <a:avLst/>
              <a:gdLst/>
              <a:ahLst/>
              <a:cxnLst/>
              <a:rect r="r" b="b" t="t" l="l"/>
              <a:pathLst>
                <a:path h="1121664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141" r="0" b="-76141"/>
              </a:stretch>
            </a:blip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1960352" y="3372993"/>
            <a:ext cx="5449824" cy="869823"/>
            <a:chOff x="0" y="0"/>
            <a:chExt cx="7266432" cy="1159764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7266432" cy="1159764"/>
            </a:xfrm>
            <a:custGeom>
              <a:avLst/>
              <a:gdLst/>
              <a:ahLst/>
              <a:cxnLst/>
              <a:rect r="r" b="b" t="t" l="l"/>
              <a:pathLst>
                <a:path h="1159764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82" r="0" b="-72082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7266432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mds='tsne'  (internal layout)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9473184" y="4242816"/>
            <a:ext cx="8156448" cy="841248"/>
            <a:chOff x="0" y="0"/>
            <a:chExt cx="10875264" cy="1121664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08752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875264">
                  <a:moveTo>
                    <a:pt x="0" y="0"/>
                  </a:moveTo>
                  <a:lnTo>
                    <a:pt x="10875264" y="0"/>
                  </a:lnTo>
                  <a:lnTo>
                    <a:pt x="1087526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0F9FF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692640" y="4242816"/>
            <a:ext cx="2231136" cy="841248"/>
            <a:chOff x="0" y="0"/>
            <a:chExt cx="2974848" cy="1121664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29748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1" r="0" b="-1641"/>
              </a:stretch>
            </a:blip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9692640" y="4214241"/>
            <a:ext cx="2231136" cy="869823"/>
            <a:chOff x="0" y="0"/>
            <a:chExt cx="2974848" cy="1159764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974848" cy="1159764"/>
            </a:xfrm>
            <a:custGeom>
              <a:avLst/>
              <a:gdLst/>
              <a:ahLst/>
              <a:cxnLst/>
              <a:rect r="r" b="b" t="t" l="l"/>
              <a:pathLst>
                <a:path h="11597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" t="0" r="-19" b="0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-38100"/>
              <a:ext cx="297484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11960352" y="4242816"/>
            <a:ext cx="5449824" cy="841248"/>
            <a:chOff x="0" y="0"/>
            <a:chExt cx="7266432" cy="1121664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266432" cy="1121664"/>
            </a:xfrm>
            <a:custGeom>
              <a:avLst/>
              <a:gdLst/>
              <a:ahLst/>
              <a:cxnLst/>
              <a:rect r="r" b="b" t="t" l="l"/>
              <a:pathLst>
                <a:path h="1121664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141" r="0" b="-76141"/>
              </a:stretch>
            </a:blip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1960352" y="4214241"/>
            <a:ext cx="5449824" cy="869823"/>
            <a:chOff x="0" y="0"/>
            <a:chExt cx="7266432" cy="1159764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7266432" cy="1159764"/>
            </a:xfrm>
            <a:custGeom>
              <a:avLst/>
              <a:gdLst/>
              <a:ahLst/>
              <a:cxnLst/>
              <a:rect r="r" b="b" t="t" l="l"/>
              <a:pathLst>
                <a:path h="1159764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82" r="0" b="-72082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7266432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  (topic-word matrix from NMF)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9473184" y="5084064"/>
            <a:ext cx="8156448" cy="841248"/>
            <a:chOff x="0" y="0"/>
            <a:chExt cx="10875264" cy="1121664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08752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875264">
                  <a:moveTo>
                    <a:pt x="0" y="0"/>
                  </a:moveTo>
                  <a:lnTo>
                    <a:pt x="10875264" y="0"/>
                  </a:lnTo>
                  <a:lnTo>
                    <a:pt x="1087526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9692640" y="5084064"/>
            <a:ext cx="2231136" cy="841248"/>
            <a:chOff x="0" y="0"/>
            <a:chExt cx="2974848" cy="1121664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29748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1" r="0" b="-1641"/>
              </a:stretch>
            </a:blip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9692640" y="5055489"/>
            <a:ext cx="2231136" cy="869823"/>
            <a:chOff x="0" y="0"/>
            <a:chExt cx="2974848" cy="1159764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974848" cy="1159764"/>
            </a:xfrm>
            <a:custGeom>
              <a:avLst/>
              <a:gdLst/>
              <a:ahLst/>
              <a:cxnLst/>
              <a:rect r="r" b="b" t="t" l="l"/>
              <a:pathLst>
                <a:path h="11597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" t="0" r="-19" b="0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38100"/>
              <a:ext cx="297484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doc_topic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11960352" y="5084064"/>
            <a:ext cx="5449824" cy="841248"/>
            <a:chOff x="0" y="0"/>
            <a:chExt cx="7266432" cy="1121664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7266432" cy="1121664"/>
            </a:xfrm>
            <a:custGeom>
              <a:avLst/>
              <a:gdLst/>
              <a:ahLst/>
              <a:cxnLst/>
              <a:rect r="r" b="b" t="t" l="l"/>
              <a:pathLst>
                <a:path h="1121664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141" r="0" b="-76141"/>
              </a:stretch>
            </a:blip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1960352" y="5055489"/>
            <a:ext cx="5449824" cy="869823"/>
            <a:chOff x="0" y="0"/>
            <a:chExt cx="7266432" cy="1159764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7266432" cy="1159764"/>
            </a:xfrm>
            <a:custGeom>
              <a:avLst/>
              <a:gdLst/>
              <a:ahLst/>
              <a:cxnLst/>
              <a:rect r="r" b="b" t="t" l="l"/>
              <a:pathLst>
                <a:path h="1159764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82" r="0" b="-72082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7266432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W_valid  (normalised with L1)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9473184" y="5925312"/>
            <a:ext cx="8156448" cy="841248"/>
            <a:chOff x="0" y="0"/>
            <a:chExt cx="10875264" cy="1121664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108752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875264">
                  <a:moveTo>
                    <a:pt x="0" y="0"/>
                  </a:moveTo>
                  <a:lnTo>
                    <a:pt x="10875264" y="0"/>
                  </a:lnTo>
                  <a:lnTo>
                    <a:pt x="1087526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0F9FF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9692640" y="5925312"/>
            <a:ext cx="2231136" cy="841248"/>
            <a:chOff x="0" y="0"/>
            <a:chExt cx="2974848" cy="1121664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29748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1" r="0" b="-1641"/>
              </a:stretch>
            </a:blip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9692640" y="5896737"/>
            <a:ext cx="2231136" cy="869823"/>
            <a:chOff x="0" y="0"/>
            <a:chExt cx="2974848" cy="1159764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2974848" cy="1159764"/>
            </a:xfrm>
            <a:custGeom>
              <a:avLst/>
              <a:gdLst/>
              <a:ahLst/>
              <a:cxnLst/>
              <a:rect r="r" b="b" t="t" l="l"/>
              <a:pathLst>
                <a:path h="11597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" t="0" r="-19" b="0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-38100"/>
              <a:ext cx="297484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doc_lengths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11960352" y="5925312"/>
            <a:ext cx="5449824" cy="841248"/>
            <a:chOff x="0" y="0"/>
            <a:chExt cx="7266432" cy="1121664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7266432" cy="1121664"/>
            </a:xfrm>
            <a:custGeom>
              <a:avLst/>
              <a:gdLst/>
              <a:ahLst/>
              <a:cxnLst/>
              <a:rect r="r" b="b" t="t" l="l"/>
              <a:pathLst>
                <a:path h="1121664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141" r="0" b="-76141"/>
              </a:stretch>
            </a:blip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11960352" y="5896737"/>
            <a:ext cx="5449824" cy="869823"/>
            <a:chOff x="0" y="0"/>
            <a:chExt cx="7266432" cy="1159764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7266432" cy="1159764"/>
            </a:xfrm>
            <a:custGeom>
              <a:avLst/>
              <a:gdLst/>
              <a:ahLst/>
              <a:cxnLst/>
              <a:rect r="r" b="b" t="t" l="l"/>
              <a:pathLst>
                <a:path h="1159764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82" r="0" b="-72082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7266432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TF-IDF row sums  (int)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9473184" y="6766560"/>
            <a:ext cx="8156448" cy="841248"/>
            <a:chOff x="0" y="0"/>
            <a:chExt cx="10875264" cy="1121664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108752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875264">
                  <a:moveTo>
                    <a:pt x="0" y="0"/>
                  </a:moveTo>
                  <a:lnTo>
                    <a:pt x="10875264" y="0"/>
                  </a:lnTo>
                  <a:lnTo>
                    <a:pt x="1087526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7" id="187"/>
          <p:cNvGrpSpPr/>
          <p:nvPr/>
        </p:nvGrpSpPr>
        <p:grpSpPr>
          <a:xfrm rot="0">
            <a:off x="9692640" y="6766560"/>
            <a:ext cx="2231136" cy="841248"/>
            <a:chOff x="0" y="0"/>
            <a:chExt cx="2974848" cy="1121664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29748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1" r="0" b="-1641"/>
              </a:stretch>
            </a:blipFill>
          </p:spPr>
        </p:sp>
      </p:grpSp>
      <p:grpSp>
        <p:nvGrpSpPr>
          <p:cNvPr name="Group 189" id="189"/>
          <p:cNvGrpSpPr/>
          <p:nvPr/>
        </p:nvGrpSpPr>
        <p:grpSpPr>
          <a:xfrm rot="0">
            <a:off x="9692640" y="6737985"/>
            <a:ext cx="2231136" cy="869823"/>
            <a:chOff x="0" y="0"/>
            <a:chExt cx="2974848" cy="1159764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2974848" cy="1159764"/>
            </a:xfrm>
            <a:custGeom>
              <a:avLst/>
              <a:gdLst/>
              <a:ahLst/>
              <a:cxnLst/>
              <a:rect r="r" b="b" t="t" l="l"/>
              <a:pathLst>
                <a:path h="11597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" t="0" r="-19" b="0"/>
              </a:stretch>
            </a:blipFill>
          </p:spPr>
        </p:sp>
        <p:sp>
          <p:nvSpPr>
            <p:cNvPr name="TextBox 191" id="191"/>
            <p:cNvSpPr txBox="true"/>
            <p:nvPr/>
          </p:nvSpPr>
          <p:spPr>
            <a:xfrm>
              <a:off x="0" y="-38100"/>
              <a:ext cx="297484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term_freq</a:t>
              </a:r>
            </a:p>
          </p:txBody>
        </p:sp>
      </p:grpSp>
      <p:grpSp>
        <p:nvGrpSpPr>
          <p:cNvPr name="Group 192" id="192"/>
          <p:cNvGrpSpPr/>
          <p:nvPr/>
        </p:nvGrpSpPr>
        <p:grpSpPr>
          <a:xfrm rot="0">
            <a:off x="11960352" y="6766560"/>
            <a:ext cx="5449824" cy="841248"/>
            <a:chOff x="0" y="0"/>
            <a:chExt cx="7266432" cy="1121664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7266432" cy="1121664"/>
            </a:xfrm>
            <a:custGeom>
              <a:avLst/>
              <a:gdLst/>
              <a:ahLst/>
              <a:cxnLst/>
              <a:rect r="r" b="b" t="t" l="l"/>
              <a:pathLst>
                <a:path h="1121664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141" r="0" b="-76141"/>
              </a:stretch>
            </a:blip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11960352" y="6737985"/>
            <a:ext cx="5449824" cy="869823"/>
            <a:chOff x="0" y="0"/>
            <a:chExt cx="7266432" cy="1159764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7266432" cy="1159764"/>
            </a:xfrm>
            <a:custGeom>
              <a:avLst/>
              <a:gdLst/>
              <a:ahLst/>
              <a:cxnLst/>
              <a:rect r="r" b="b" t="t" l="l"/>
              <a:pathLst>
                <a:path h="1159764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82" r="0" b="-72082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7266432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TF-IDF column sums  (full corpus)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9473184" y="7607808"/>
            <a:ext cx="8156448" cy="841248"/>
            <a:chOff x="0" y="0"/>
            <a:chExt cx="10875264" cy="1121664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108752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875264">
                  <a:moveTo>
                    <a:pt x="0" y="0"/>
                  </a:moveTo>
                  <a:lnTo>
                    <a:pt x="10875264" y="0"/>
                  </a:lnTo>
                  <a:lnTo>
                    <a:pt x="1087526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0F9FF"/>
            </a:solidFill>
          </p:spPr>
        </p:sp>
      </p:grpSp>
      <p:grpSp>
        <p:nvGrpSpPr>
          <p:cNvPr name="Group 199" id="199"/>
          <p:cNvGrpSpPr/>
          <p:nvPr/>
        </p:nvGrpSpPr>
        <p:grpSpPr>
          <a:xfrm rot="0">
            <a:off x="9692640" y="7607808"/>
            <a:ext cx="2231136" cy="841248"/>
            <a:chOff x="0" y="0"/>
            <a:chExt cx="2974848" cy="1121664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29748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1" r="0" b="-1641"/>
              </a:stretch>
            </a:blipFill>
          </p:spPr>
        </p:sp>
      </p:grpSp>
      <p:grpSp>
        <p:nvGrpSpPr>
          <p:cNvPr name="Group 201" id="201"/>
          <p:cNvGrpSpPr/>
          <p:nvPr/>
        </p:nvGrpSpPr>
        <p:grpSpPr>
          <a:xfrm rot="0">
            <a:off x="9692640" y="7579233"/>
            <a:ext cx="2231136" cy="869823"/>
            <a:chOff x="0" y="0"/>
            <a:chExt cx="2974848" cy="1159764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2974848" cy="1159764"/>
            </a:xfrm>
            <a:custGeom>
              <a:avLst/>
              <a:gdLst/>
              <a:ahLst/>
              <a:cxnLst/>
              <a:rect r="r" b="b" t="t" l="l"/>
              <a:pathLst>
                <a:path h="11597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" t="0" r="-19" b="0"/>
              </a:stretch>
            </a:blipFill>
          </p:spPr>
        </p:sp>
        <p:sp>
          <p:nvSpPr>
            <p:cNvPr name="TextBox 203" id="203"/>
            <p:cNvSpPr txBox="true"/>
            <p:nvPr/>
          </p:nvSpPr>
          <p:spPr>
            <a:xfrm>
              <a:off x="0" y="-38100"/>
              <a:ext cx="297484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</p:grpSp>
      <p:grpSp>
        <p:nvGrpSpPr>
          <p:cNvPr name="Group 204" id="204"/>
          <p:cNvGrpSpPr/>
          <p:nvPr/>
        </p:nvGrpSpPr>
        <p:grpSpPr>
          <a:xfrm rot="0">
            <a:off x="11960352" y="7607808"/>
            <a:ext cx="5449824" cy="841248"/>
            <a:chOff x="0" y="0"/>
            <a:chExt cx="7266432" cy="1121664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7266432" cy="1121664"/>
            </a:xfrm>
            <a:custGeom>
              <a:avLst/>
              <a:gdLst/>
              <a:ahLst/>
              <a:cxnLst/>
              <a:rect r="r" b="b" t="t" l="l"/>
              <a:pathLst>
                <a:path h="1121664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141" r="0" b="-76141"/>
              </a:stretch>
            </a:blip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11960352" y="7579233"/>
            <a:ext cx="5449824" cy="869823"/>
            <a:chOff x="0" y="0"/>
            <a:chExt cx="7266432" cy="1159764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7266432" cy="1159764"/>
            </a:xfrm>
            <a:custGeom>
              <a:avLst/>
              <a:gdLst/>
              <a:ahLst/>
              <a:cxnLst/>
              <a:rect r="r" b="b" t="t" l="l"/>
              <a:pathLst>
                <a:path h="1159764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82" r="0" b="-72082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38100"/>
              <a:ext cx="7266432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lda_vis.html  (interactive HTML)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9473184" y="8449056"/>
            <a:ext cx="8156448" cy="841248"/>
            <a:chOff x="0" y="0"/>
            <a:chExt cx="10875264" cy="1121664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108752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875264">
                  <a:moveTo>
                    <a:pt x="0" y="0"/>
                  </a:moveTo>
                  <a:lnTo>
                    <a:pt x="10875264" y="0"/>
                  </a:lnTo>
                  <a:lnTo>
                    <a:pt x="1087526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1" id="211"/>
          <p:cNvGrpSpPr/>
          <p:nvPr/>
        </p:nvGrpSpPr>
        <p:grpSpPr>
          <a:xfrm rot="0">
            <a:off x="9692640" y="8449056"/>
            <a:ext cx="2231136" cy="841248"/>
            <a:chOff x="0" y="0"/>
            <a:chExt cx="2974848" cy="1121664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29748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1" r="0" b="-1641"/>
              </a:stretch>
            </a:blipFill>
          </p:spPr>
        </p:sp>
      </p:grpSp>
      <p:grpSp>
        <p:nvGrpSpPr>
          <p:cNvPr name="Group 213" id="213"/>
          <p:cNvGrpSpPr/>
          <p:nvPr/>
        </p:nvGrpSpPr>
        <p:grpSpPr>
          <a:xfrm rot="0">
            <a:off x="9692640" y="8420481"/>
            <a:ext cx="2231136" cy="869823"/>
            <a:chOff x="0" y="0"/>
            <a:chExt cx="2974848" cy="1159764"/>
          </a:xfrm>
        </p:grpSpPr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2974848" cy="1159764"/>
            </a:xfrm>
            <a:custGeom>
              <a:avLst/>
              <a:gdLst/>
              <a:ahLst/>
              <a:cxnLst/>
              <a:rect r="r" b="b" t="t" l="l"/>
              <a:pathLst>
                <a:path h="1159764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" t="0" r="-19" b="0"/>
              </a:stretch>
            </a:blipFill>
          </p:spPr>
        </p:sp>
        <p:sp>
          <p:nvSpPr>
            <p:cNvPr name="TextBox 215" id="215"/>
            <p:cNvSpPr txBox="true"/>
            <p:nvPr/>
          </p:nvSpPr>
          <p:spPr>
            <a:xfrm>
              <a:off x="0" y="-38100"/>
              <a:ext cx="2974848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Note</a:t>
              </a:r>
            </a:p>
          </p:txBody>
        </p:sp>
      </p:grpSp>
      <p:grpSp>
        <p:nvGrpSpPr>
          <p:cNvPr name="Group 216" id="216"/>
          <p:cNvGrpSpPr/>
          <p:nvPr/>
        </p:nvGrpSpPr>
        <p:grpSpPr>
          <a:xfrm rot="0">
            <a:off x="11960352" y="8449056"/>
            <a:ext cx="5449824" cy="841248"/>
            <a:chOff x="0" y="0"/>
            <a:chExt cx="7266432" cy="1121664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7266432" cy="1121664"/>
            </a:xfrm>
            <a:custGeom>
              <a:avLst/>
              <a:gdLst/>
              <a:ahLst/>
              <a:cxnLst/>
              <a:rect r="r" b="b" t="t" l="l"/>
              <a:pathLst>
                <a:path h="1121664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141" r="0" b="-76141"/>
              </a:stretch>
            </a:blip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11960352" y="8420481"/>
            <a:ext cx="5449824" cy="869823"/>
            <a:chOff x="0" y="0"/>
            <a:chExt cx="7266432" cy="1159764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7266432" cy="1159764"/>
            </a:xfrm>
            <a:custGeom>
              <a:avLst/>
              <a:gdLst/>
              <a:ahLst/>
              <a:cxnLst/>
              <a:rect r="r" b="b" t="t" l="l"/>
              <a:pathLst>
                <a:path h="1159764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82" r="0" b="-72082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38100"/>
              <a:ext cx="7266432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NMF retrained for compatibility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658368" y="9253728"/>
            <a:ext cx="16971264" cy="512064"/>
            <a:chOff x="0" y="0"/>
            <a:chExt cx="22628352" cy="682752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22628352" cy="682752"/>
            </a:xfrm>
            <a:custGeom>
              <a:avLst/>
              <a:gdLst/>
              <a:ahLst/>
              <a:cxnLst/>
              <a:rect r="r" b="b" t="t" l="l"/>
              <a:pathLst>
                <a:path h="682752" w="22628352">
                  <a:moveTo>
                    <a:pt x="0" y="0"/>
                  </a:moveTo>
                  <a:lnTo>
                    <a:pt x="22628352" y="0"/>
                  </a:lnTo>
                  <a:lnTo>
                    <a:pt x="2262835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914400" y="9253728"/>
            <a:ext cx="16642080" cy="512064"/>
            <a:chOff x="0" y="0"/>
            <a:chExt cx="22189440" cy="682752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22189439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2823" r="0" b="-582823"/>
              </a:stretch>
            </a:blipFill>
          </p:spPr>
        </p:sp>
      </p:grpSp>
      <p:grpSp>
        <p:nvGrpSpPr>
          <p:cNvPr name="Group 225" id="225"/>
          <p:cNvGrpSpPr/>
          <p:nvPr/>
        </p:nvGrpSpPr>
        <p:grpSpPr>
          <a:xfrm rot="0">
            <a:off x="914400" y="9225153"/>
            <a:ext cx="16642080" cy="540639"/>
            <a:chOff x="0" y="0"/>
            <a:chExt cx="22189440" cy="720852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22189439" cy="720852"/>
            </a:xfrm>
            <a:custGeom>
              <a:avLst/>
              <a:gdLst/>
              <a:ahLst/>
              <a:cxnLst/>
              <a:rect r="r" b="b" t="t" l="l"/>
              <a:pathLst>
                <a:path h="7208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793" r="0" b="-549793"/>
              </a:stretch>
            </a:blipFill>
          </p:spPr>
        </p:sp>
        <p:sp>
          <p:nvSpPr>
            <p:cNvPr name="TextBox 227" id="227"/>
            <p:cNvSpPr txBox="true"/>
            <p:nvPr/>
          </p:nvSpPr>
          <p:spPr>
            <a:xfrm>
              <a:off x="0" y="-38100"/>
              <a:ext cx="2218944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Important: Primary dimensionality reduction uses t-SNE (not UMAP). pyLDAvis also uses mds='tsne' internally for interactive topic bubble visualisation.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26464"/>
            <a:chOff x="0" y="0"/>
            <a:chExt cx="24384000" cy="19019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B1E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775936" y="0"/>
            <a:ext cx="512064" cy="1426464"/>
            <a:chOff x="0" y="0"/>
            <a:chExt cx="682752" cy="19019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2752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91734" y="-852745"/>
            <a:ext cx="16645299" cy="3226375"/>
            <a:chOff x="0" y="0"/>
            <a:chExt cx="22193733" cy="43018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93758" cy="4301871"/>
            </a:xfrm>
            <a:custGeom>
              <a:avLst/>
              <a:gdLst/>
              <a:ahLst/>
              <a:cxnLst/>
              <a:rect r="r" b="b" t="t" l="l"/>
              <a:pathLst>
                <a:path h="4301871" w="22193758">
                  <a:moveTo>
                    <a:pt x="0" y="0"/>
                  </a:moveTo>
                  <a:lnTo>
                    <a:pt x="22193758" y="0"/>
                  </a:lnTo>
                  <a:lnTo>
                    <a:pt x="22193758" y="4301871"/>
                  </a:lnTo>
                  <a:lnTo>
                    <a:pt x="0" y="43018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455" r="0" b="-5045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91734" y="-859888"/>
            <a:ext cx="16645299" cy="3233518"/>
            <a:chOff x="0" y="0"/>
            <a:chExt cx="22193733" cy="43113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93731" cy="4311355"/>
            </a:xfrm>
            <a:custGeom>
              <a:avLst/>
              <a:gdLst/>
              <a:ahLst/>
              <a:cxnLst/>
              <a:rect r="r" b="b" t="t" l="l"/>
              <a:pathLst>
                <a:path h="4311355" w="22193731">
                  <a:moveTo>
                    <a:pt x="0" y="0"/>
                  </a:moveTo>
                  <a:lnTo>
                    <a:pt x="22193731" y="0"/>
                  </a:lnTo>
                  <a:lnTo>
                    <a:pt x="22193731" y="4311355"/>
                  </a:lnTo>
                  <a:lnTo>
                    <a:pt x="0" y="43113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303" r="0" b="-5030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2193733" cy="43208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Topic Interpretation 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8368" y="1645920"/>
            <a:ext cx="9692640" cy="7040880"/>
            <a:chOff x="0" y="0"/>
            <a:chExt cx="12923520" cy="9387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923520" cy="9387840"/>
            </a:xfrm>
            <a:custGeom>
              <a:avLst/>
              <a:gdLst/>
              <a:ahLst/>
              <a:cxnLst/>
              <a:rect r="r" b="b" t="t" l="l"/>
              <a:pathLst>
                <a:path h="938784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9387840"/>
                  </a:lnTo>
                  <a:lnTo>
                    <a:pt x="0" y="9387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58368" y="1645920"/>
            <a:ext cx="9692640" cy="694944"/>
            <a:chOff x="0" y="0"/>
            <a:chExt cx="12923520" cy="926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923520" cy="926592"/>
            </a:xfrm>
            <a:custGeom>
              <a:avLst/>
              <a:gdLst/>
              <a:ahLst/>
              <a:cxnLst/>
              <a:rect r="r" b="b" t="t" l="l"/>
              <a:pathLst>
                <a:path h="92659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B1E3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1645920"/>
            <a:ext cx="9436608" cy="694944"/>
            <a:chOff x="0" y="0"/>
            <a:chExt cx="12582144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82144" cy="926592"/>
            </a:xfrm>
            <a:custGeom>
              <a:avLst/>
              <a:gdLst/>
              <a:ahLst/>
              <a:cxnLst/>
              <a:rect r="r" b="b" t="t" l="l"/>
              <a:pathLst>
                <a:path h="926592" w="12582144">
                  <a:moveTo>
                    <a:pt x="0" y="0"/>
                  </a:moveTo>
                  <a:lnTo>
                    <a:pt x="12582144" y="0"/>
                  </a:lnTo>
                  <a:lnTo>
                    <a:pt x="1258214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402" r="0" b="-21440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1610201"/>
            <a:ext cx="9436608" cy="730663"/>
            <a:chOff x="0" y="0"/>
            <a:chExt cx="12582144" cy="97421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82144" cy="974217"/>
            </a:xfrm>
            <a:custGeom>
              <a:avLst/>
              <a:gdLst/>
              <a:ahLst/>
              <a:cxnLst/>
              <a:rect r="r" b="b" t="t" l="l"/>
              <a:pathLst>
                <a:path h="974217" w="12582144">
                  <a:moveTo>
                    <a:pt x="0" y="0"/>
                  </a:moveTo>
                  <a:lnTo>
                    <a:pt x="12582144" y="0"/>
                  </a:lnTo>
                  <a:lnTo>
                    <a:pt x="12582144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651" r="0" b="-20165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582144" cy="102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5EEA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NMF Topics  (K = 20, top 5 interpreted below)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8368" y="2468880"/>
            <a:ext cx="9692640" cy="914400"/>
            <a:chOff x="0" y="0"/>
            <a:chExt cx="1292352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923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F9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04672" y="2468880"/>
            <a:ext cx="950976" cy="914400"/>
            <a:chOff x="0" y="0"/>
            <a:chExt cx="1267968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679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454" t="0" r="-73454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04672" y="2440305"/>
            <a:ext cx="950976" cy="942975"/>
            <a:chOff x="0" y="0"/>
            <a:chExt cx="1267968" cy="12573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67968" cy="1257300"/>
            </a:xfrm>
            <a:custGeom>
              <a:avLst/>
              <a:gdLst/>
              <a:ahLst/>
              <a:cxnLst/>
              <a:rect r="r" b="b" t="t" l="l"/>
              <a:pathLst>
                <a:path h="1257300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224" t="0" r="-77224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267968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B1E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T-01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92224" y="2468880"/>
            <a:ext cx="4608576" cy="914400"/>
            <a:chOff x="0" y="0"/>
            <a:chExt cx="6144768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447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136" r="0" b="-48136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792224" y="2440305"/>
            <a:ext cx="4608576" cy="942975"/>
            <a:chOff x="0" y="0"/>
            <a:chExt cx="6144768" cy="12573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144768" cy="1257300"/>
            </a:xfrm>
            <a:custGeom>
              <a:avLst/>
              <a:gdLst/>
              <a:ahLst/>
              <a:cxnLst/>
              <a:rect r="r" b="b" t="t" l="l"/>
              <a:pathLst>
                <a:path h="125730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28" r="0" b="-4522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144768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result, model, time, temperature, process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6497831" y="2602487"/>
            <a:ext cx="3682936" cy="573976"/>
          </a:xfrm>
          <a:custGeom>
            <a:avLst/>
            <a:gdLst/>
            <a:ahLst/>
            <a:cxnLst/>
            <a:rect r="r" b="b" t="t" l="l"/>
            <a:pathLst>
              <a:path h="573976" w="3682936">
                <a:moveTo>
                  <a:pt x="0" y="0"/>
                </a:moveTo>
                <a:lnTo>
                  <a:pt x="3682937" y="0"/>
                </a:lnTo>
                <a:lnTo>
                  <a:pt x="3682937" y="573977"/>
                </a:lnTo>
                <a:lnTo>
                  <a:pt x="0" y="573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6510528" y="2615184"/>
            <a:ext cx="3657600" cy="548640"/>
            <a:chOff x="0" y="0"/>
            <a:chExt cx="487680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10" r="0" b="-79809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510528" y="2586609"/>
            <a:ext cx="3657600" cy="577215"/>
            <a:chOff x="0" y="0"/>
            <a:chExt cx="4876800" cy="7696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76800" cy="769620"/>
            </a:xfrm>
            <a:custGeom>
              <a:avLst/>
              <a:gdLst/>
              <a:ahLst/>
              <a:cxnLst/>
              <a:rect r="r" b="b" t="t" l="l"/>
              <a:pathLst>
                <a:path h="7696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69" r="0" b="-7346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8768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47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Gen. Physics &amp; Exp. Research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58368" y="3383280"/>
            <a:ext cx="9692640" cy="914400"/>
            <a:chOff x="0" y="0"/>
            <a:chExt cx="1292352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923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04672" y="3383280"/>
            <a:ext cx="950976" cy="914400"/>
            <a:chOff x="0" y="0"/>
            <a:chExt cx="1267968" cy="121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679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454" t="0" r="-73454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04672" y="3354705"/>
            <a:ext cx="950976" cy="942975"/>
            <a:chOff x="0" y="0"/>
            <a:chExt cx="1267968" cy="12573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67968" cy="1257300"/>
            </a:xfrm>
            <a:custGeom>
              <a:avLst/>
              <a:gdLst/>
              <a:ahLst/>
              <a:cxnLst/>
              <a:rect r="r" b="b" t="t" l="l"/>
              <a:pathLst>
                <a:path h="1257300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224" t="0" r="-77224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267968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65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T-02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792224" y="3383280"/>
            <a:ext cx="4608576" cy="914400"/>
            <a:chOff x="0" y="0"/>
            <a:chExt cx="6144768" cy="1219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1447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136" r="0" b="-48136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792224" y="3354705"/>
            <a:ext cx="4608576" cy="942975"/>
            <a:chOff x="0" y="0"/>
            <a:chExt cx="6144768" cy="12573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144768" cy="1257300"/>
            </a:xfrm>
            <a:custGeom>
              <a:avLst/>
              <a:gdLst/>
              <a:ahLst/>
              <a:cxnLst/>
              <a:rect r="r" b="b" t="t" l="l"/>
              <a:pathLst>
                <a:path h="125730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28" r="0" b="-4522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144768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llm, task, training, language, dataset</a:t>
              </a: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6497831" y="3516887"/>
            <a:ext cx="3682936" cy="573976"/>
          </a:xfrm>
          <a:custGeom>
            <a:avLst/>
            <a:gdLst/>
            <a:ahLst/>
            <a:cxnLst/>
            <a:rect r="r" b="b" t="t" l="l"/>
            <a:pathLst>
              <a:path h="573976" w="3682936">
                <a:moveTo>
                  <a:pt x="0" y="0"/>
                </a:moveTo>
                <a:lnTo>
                  <a:pt x="3682937" y="0"/>
                </a:lnTo>
                <a:lnTo>
                  <a:pt x="3682937" y="573977"/>
                </a:lnTo>
                <a:lnTo>
                  <a:pt x="0" y="573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6510528" y="3529584"/>
            <a:ext cx="3657600" cy="548640"/>
            <a:chOff x="0" y="0"/>
            <a:chExt cx="487680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10" r="0" b="-79809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510528" y="3501009"/>
            <a:ext cx="3657600" cy="577215"/>
            <a:chOff x="0" y="0"/>
            <a:chExt cx="4876800" cy="7696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76800" cy="769620"/>
            </a:xfrm>
            <a:custGeom>
              <a:avLst/>
              <a:gdLst/>
              <a:ahLst/>
              <a:cxnLst/>
              <a:rect r="r" b="b" t="t" l="l"/>
              <a:pathLst>
                <a:path h="7696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69" r="0" b="-7346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8768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47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LLMs &amp; Machine Learning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58368" y="4297680"/>
            <a:ext cx="9692640" cy="914400"/>
            <a:chOff x="0" y="0"/>
            <a:chExt cx="12923520" cy="121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923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F9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04672" y="4297680"/>
            <a:ext cx="950976" cy="914400"/>
            <a:chOff x="0" y="0"/>
            <a:chExt cx="1267968" cy="1219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679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454" t="0" r="-73454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804672" y="4269105"/>
            <a:ext cx="950976" cy="942975"/>
            <a:chOff x="0" y="0"/>
            <a:chExt cx="1267968" cy="12573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67968" cy="1257300"/>
            </a:xfrm>
            <a:custGeom>
              <a:avLst/>
              <a:gdLst/>
              <a:ahLst/>
              <a:cxnLst/>
              <a:rect r="r" b="b" t="t" l="l"/>
              <a:pathLst>
                <a:path h="1257300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224" t="0" r="-77224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267968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T-03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792224" y="4297680"/>
            <a:ext cx="4608576" cy="914400"/>
            <a:chOff x="0" y="0"/>
            <a:chExt cx="6144768" cy="12192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1447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136" r="0" b="-48136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792224" y="4269105"/>
            <a:ext cx="4608576" cy="942975"/>
            <a:chOff x="0" y="0"/>
            <a:chExt cx="6144768" cy="12573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144768" cy="1257300"/>
            </a:xfrm>
            <a:custGeom>
              <a:avLst/>
              <a:gdLst/>
              <a:ahLst/>
              <a:cxnLst/>
              <a:rect r="r" b="b" t="t" l="l"/>
              <a:pathLst>
                <a:path h="125730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28" r="0" b="-4522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6144768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prove, theorem, polynomial, equation, bound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6497831" y="4431287"/>
            <a:ext cx="3682936" cy="573976"/>
          </a:xfrm>
          <a:custGeom>
            <a:avLst/>
            <a:gdLst/>
            <a:ahLst/>
            <a:cxnLst/>
            <a:rect r="r" b="b" t="t" l="l"/>
            <a:pathLst>
              <a:path h="573976" w="3682936">
                <a:moveTo>
                  <a:pt x="0" y="0"/>
                </a:moveTo>
                <a:lnTo>
                  <a:pt x="3682937" y="0"/>
                </a:lnTo>
                <a:lnTo>
                  <a:pt x="3682937" y="573977"/>
                </a:lnTo>
                <a:lnTo>
                  <a:pt x="0" y="573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6510528" y="4443984"/>
            <a:ext cx="3657600" cy="548640"/>
            <a:chOff x="0" y="0"/>
            <a:chExt cx="487680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10" r="0" b="-79809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510528" y="4415409"/>
            <a:ext cx="3657600" cy="577215"/>
            <a:chOff x="0" y="0"/>
            <a:chExt cx="4876800" cy="7696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76800" cy="769620"/>
            </a:xfrm>
            <a:custGeom>
              <a:avLst/>
              <a:gdLst/>
              <a:ahLst/>
              <a:cxnLst/>
              <a:rect r="r" b="b" t="t" l="l"/>
              <a:pathLst>
                <a:path h="7696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69" r="0" b="-7346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8768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47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Mathematical Analysis &amp; Proofs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58368" y="5212080"/>
            <a:ext cx="9692640" cy="914400"/>
            <a:chOff x="0" y="0"/>
            <a:chExt cx="12923520" cy="1219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2923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804672" y="5212080"/>
            <a:ext cx="950976" cy="914400"/>
            <a:chOff x="0" y="0"/>
            <a:chExt cx="1267968" cy="12192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2679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454" t="0" r="-73454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804672" y="5183505"/>
            <a:ext cx="950976" cy="942975"/>
            <a:chOff x="0" y="0"/>
            <a:chExt cx="1267968" cy="12573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267968" cy="1257300"/>
            </a:xfrm>
            <a:custGeom>
              <a:avLst/>
              <a:gdLst/>
              <a:ahLst/>
              <a:cxnLst/>
              <a:rect r="r" b="b" t="t" l="l"/>
              <a:pathLst>
                <a:path h="1257300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224" t="0" r="-77224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267968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47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T-04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792224" y="5212080"/>
            <a:ext cx="4608576" cy="914400"/>
            <a:chOff x="0" y="0"/>
            <a:chExt cx="6144768" cy="12192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1447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136" r="0" b="-48136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792224" y="5183505"/>
            <a:ext cx="4608576" cy="942975"/>
            <a:chOff x="0" y="0"/>
            <a:chExt cx="6144768" cy="12573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144768" cy="1257300"/>
            </a:xfrm>
            <a:custGeom>
              <a:avLst/>
              <a:gdLst/>
              <a:ahLst/>
              <a:cxnLst/>
              <a:rect r="r" b="b" t="t" l="l"/>
              <a:pathLst>
                <a:path h="125730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28" r="0" b="-4522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6144768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star, galaxy, redshift, dwarf, luminosity</a:t>
              </a:r>
            </a:p>
          </p:txBody>
        </p:sp>
      </p:grpSp>
      <p:sp>
        <p:nvSpPr>
          <p:cNvPr name="Freeform 86" id="86"/>
          <p:cNvSpPr/>
          <p:nvPr/>
        </p:nvSpPr>
        <p:spPr>
          <a:xfrm flipH="false" flipV="false" rot="0">
            <a:off x="6497831" y="5345687"/>
            <a:ext cx="3682936" cy="573976"/>
          </a:xfrm>
          <a:custGeom>
            <a:avLst/>
            <a:gdLst/>
            <a:ahLst/>
            <a:cxnLst/>
            <a:rect r="r" b="b" t="t" l="l"/>
            <a:pathLst>
              <a:path h="573976" w="3682936">
                <a:moveTo>
                  <a:pt x="0" y="0"/>
                </a:moveTo>
                <a:lnTo>
                  <a:pt x="3682937" y="0"/>
                </a:lnTo>
                <a:lnTo>
                  <a:pt x="3682937" y="573977"/>
                </a:lnTo>
                <a:lnTo>
                  <a:pt x="0" y="573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7" id="87"/>
          <p:cNvGrpSpPr/>
          <p:nvPr/>
        </p:nvGrpSpPr>
        <p:grpSpPr>
          <a:xfrm rot="0">
            <a:off x="6510528" y="5358384"/>
            <a:ext cx="3657600" cy="548640"/>
            <a:chOff x="0" y="0"/>
            <a:chExt cx="4876800" cy="7315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10" r="0" b="-79809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510528" y="5329809"/>
            <a:ext cx="3657600" cy="577215"/>
            <a:chOff x="0" y="0"/>
            <a:chExt cx="4876800" cy="7696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876800" cy="769620"/>
            </a:xfrm>
            <a:custGeom>
              <a:avLst/>
              <a:gdLst/>
              <a:ahLst/>
              <a:cxnLst/>
              <a:rect r="r" b="b" t="t" l="l"/>
              <a:pathLst>
                <a:path h="7696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69" r="0" b="-73469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48768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47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Astrophysics &amp; Stellar Formation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58368" y="6126480"/>
            <a:ext cx="9692640" cy="914400"/>
            <a:chOff x="0" y="0"/>
            <a:chExt cx="12923520" cy="12192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2923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F9FF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804672" y="6126480"/>
            <a:ext cx="950976" cy="914400"/>
            <a:chOff x="0" y="0"/>
            <a:chExt cx="1267968" cy="12192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2679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454" t="0" r="-73454" b="0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804672" y="6097905"/>
            <a:ext cx="950976" cy="942975"/>
            <a:chOff x="0" y="0"/>
            <a:chExt cx="1267968" cy="12573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267968" cy="1257300"/>
            </a:xfrm>
            <a:custGeom>
              <a:avLst/>
              <a:gdLst/>
              <a:ahLst/>
              <a:cxnLst/>
              <a:rect r="r" b="b" t="t" l="l"/>
              <a:pathLst>
                <a:path h="1257300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224" t="0" r="-77224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1267968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B4530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T-05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792224" y="6126480"/>
            <a:ext cx="4608576" cy="914400"/>
            <a:chOff x="0" y="0"/>
            <a:chExt cx="6144768" cy="12192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1447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136" r="0" b="-48136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792224" y="6097905"/>
            <a:ext cx="4608576" cy="942975"/>
            <a:chOff x="0" y="0"/>
            <a:chExt cx="6144768" cy="12573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144768" cy="1257300"/>
            </a:xfrm>
            <a:custGeom>
              <a:avLst/>
              <a:gdLst/>
              <a:ahLst/>
              <a:cxnLst/>
              <a:rect r="r" b="b" t="t" l="l"/>
              <a:pathLst>
                <a:path h="125730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28" r="0" b="-4522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6144768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quantum, qubit, circuit, photon, computing</a:t>
              </a:r>
            </a:p>
          </p:txBody>
        </p:sp>
      </p:grpSp>
      <p:sp>
        <p:nvSpPr>
          <p:cNvPr name="Freeform 104" id="104"/>
          <p:cNvSpPr/>
          <p:nvPr/>
        </p:nvSpPr>
        <p:spPr>
          <a:xfrm flipH="false" flipV="false" rot="0">
            <a:off x="6497831" y="6260087"/>
            <a:ext cx="3682936" cy="573977"/>
          </a:xfrm>
          <a:custGeom>
            <a:avLst/>
            <a:gdLst/>
            <a:ahLst/>
            <a:cxnLst/>
            <a:rect r="r" b="b" t="t" l="l"/>
            <a:pathLst>
              <a:path h="573977" w="3682936">
                <a:moveTo>
                  <a:pt x="0" y="0"/>
                </a:moveTo>
                <a:lnTo>
                  <a:pt x="3682937" y="0"/>
                </a:lnTo>
                <a:lnTo>
                  <a:pt x="3682937" y="573977"/>
                </a:lnTo>
                <a:lnTo>
                  <a:pt x="0" y="573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5" id="105"/>
          <p:cNvGrpSpPr/>
          <p:nvPr/>
        </p:nvGrpSpPr>
        <p:grpSpPr>
          <a:xfrm rot="0">
            <a:off x="6510528" y="6272784"/>
            <a:ext cx="3657600" cy="548640"/>
            <a:chOff x="0" y="0"/>
            <a:chExt cx="4876800" cy="73152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10" r="0" b="-79809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6510528" y="6244209"/>
            <a:ext cx="3657600" cy="577215"/>
            <a:chOff x="0" y="0"/>
            <a:chExt cx="4876800" cy="7696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876800" cy="769620"/>
            </a:xfrm>
            <a:custGeom>
              <a:avLst/>
              <a:gdLst/>
              <a:ahLst/>
              <a:cxnLst/>
              <a:rect r="r" b="b" t="t" l="l"/>
              <a:pathLst>
                <a:path h="7696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69" r="0" b="-7346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48768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47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Quantum Info &amp; Computing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658368" y="7095744"/>
            <a:ext cx="9692640" cy="1316736"/>
            <a:chOff x="0" y="0"/>
            <a:chExt cx="12923520" cy="175564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29235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D2847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658368" y="7095744"/>
            <a:ext cx="182880" cy="1316736"/>
            <a:chOff x="0" y="0"/>
            <a:chExt cx="243840" cy="175564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438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114" id="114"/>
          <p:cNvSpPr txBox="true"/>
          <p:nvPr/>
        </p:nvSpPr>
        <p:spPr>
          <a:xfrm rot="0">
            <a:off x="1109986" y="7183755"/>
            <a:ext cx="9070848" cy="1228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5EEAD4"/>
                </a:solidFill>
                <a:latin typeface="Calibri (MS)"/>
                <a:ea typeface="Calibri (MS)"/>
                <a:cs typeface="Calibri (MS)"/>
                <a:sym typeface="Calibri (MS)"/>
              </a:rPr>
              <a:t>Note: Only MiniBatchNMF was used for topic modelling in NB 03.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5EEAD4"/>
                </a:solidFill>
                <a:latin typeface="Calibri (MS)"/>
                <a:ea typeface="Calibri (MS)"/>
                <a:cs typeface="Calibri (MS)"/>
                <a:sym typeface="Calibri (MS)"/>
              </a:rPr>
              <a:t>K=20 total topics discovered; 5 key themes interpreted in NB 05.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5EEAD4"/>
                </a:solidFill>
                <a:latin typeface="Calibri (MS)"/>
                <a:ea typeface="Calibri (MS)"/>
                <a:cs typeface="Calibri (MS)"/>
                <a:sym typeface="Calibri (MS)"/>
              </a:rPr>
              <a:t>Dominant topic per document assigned via argmax(W).</a:t>
            </a:r>
          </a:p>
        </p:txBody>
      </p:sp>
      <p:grpSp>
        <p:nvGrpSpPr>
          <p:cNvPr name="Group 115" id="115"/>
          <p:cNvGrpSpPr/>
          <p:nvPr/>
        </p:nvGrpSpPr>
        <p:grpSpPr>
          <a:xfrm rot="0">
            <a:off x="10716768" y="1645920"/>
            <a:ext cx="6912864" cy="7040880"/>
            <a:chOff x="0" y="0"/>
            <a:chExt cx="9217152" cy="93878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9217152" cy="9387840"/>
            </a:xfrm>
            <a:custGeom>
              <a:avLst/>
              <a:gdLst/>
              <a:ahLst/>
              <a:cxnLst/>
              <a:rect r="r" b="b" t="t" l="l"/>
              <a:pathLst>
                <a:path h="9387840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9387840"/>
                  </a:lnTo>
                  <a:lnTo>
                    <a:pt x="0" y="9387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0716768" y="1645920"/>
            <a:ext cx="6912864" cy="694944"/>
            <a:chOff x="0" y="0"/>
            <a:chExt cx="9217152" cy="92659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9217152" cy="926592"/>
            </a:xfrm>
            <a:custGeom>
              <a:avLst/>
              <a:gdLst/>
              <a:ahLst/>
              <a:cxnLst/>
              <a:rect r="r" b="b" t="t" l="l"/>
              <a:pathLst>
                <a:path h="926592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0936224" y="1645920"/>
            <a:ext cx="6656832" cy="694944"/>
            <a:chOff x="0" y="0"/>
            <a:chExt cx="8875776" cy="92659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8875776" cy="926592"/>
            </a:xfrm>
            <a:custGeom>
              <a:avLst/>
              <a:gdLst/>
              <a:ahLst/>
              <a:cxnLst/>
              <a:rect r="r" b="b" t="t" l="l"/>
              <a:pathLst>
                <a:path h="926592" w="8875776">
                  <a:moveTo>
                    <a:pt x="0" y="0"/>
                  </a:moveTo>
                  <a:lnTo>
                    <a:pt x="8875776" y="0"/>
                  </a:lnTo>
                  <a:lnTo>
                    <a:pt x="887577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515" r="0" b="-136517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0936224" y="1617345"/>
            <a:ext cx="6656832" cy="723519"/>
            <a:chOff x="0" y="0"/>
            <a:chExt cx="8875776" cy="96469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8875776" cy="964692"/>
            </a:xfrm>
            <a:custGeom>
              <a:avLst/>
              <a:gdLst/>
              <a:ahLst/>
              <a:cxnLst/>
              <a:rect r="r" b="b" t="t" l="l"/>
              <a:pathLst>
                <a:path h="964692" w="8875776">
                  <a:moveTo>
                    <a:pt x="0" y="0"/>
                  </a:moveTo>
                  <a:lnTo>
                    <a:pt x="8875776" y="0"/>
                  </a:lnTo>
                  <a:lnTo>
                    <a:pt x="8875776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74" r="0" b="-129274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8875776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Topic Distribution (Full 2.96M Papers)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0863072" y="2523744"/>
            <a:ext cx="2779776" cy="694944"/>
            <a:chOff x="0" y="0"/>
            <a:chExt cx="3706368" cy="92659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706368" cy="926592"/>
            </a:xfrm>
            <a:custGeom>
              <a:avLst/>
              <a:gdLst/>
              <a:ahLst/>
              <a:cxnLst/>
              <a:rect r="r" b="b" t="t" l="l"/>
              <a:pathLst>
                <a:path h="926592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86" r="0" b="-27885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0863072" y="2495169"/>
            <a:ext cx="2779776" cy="723519"/>
            <a:chOff x="0" y="0"/>
            <a:chExt cx="3706368" cy="96469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706368" cy="964692"/>
            </a:xfrm>
            <a:custGeom>
              <a:avLst/>
              <a:gdLst/>
              <a:ahLst/>
              <a:cxnLst/>
              <a:rect r="r" b="b" t="t" l="l"/>
              <a:pathLst>
                <a:path h="964692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61" r="0" b="-24861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3706368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Gen. Physics &amp; Exp. Research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3716000" y="2651760"/>
            <a:ext cx="3145536" cy="402336"/>
            <a:chOff x="0" y="0"/>
            <a:chExt cx="4194048" cy="536448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4194048" cy="536448"/>
            </a:xfrm>
            <a:custGeom>
              <a:avLst/>
              <a:gdLst/>
              <a:ahLst/>
              <a:cxnLst/>
              <a:rect r="r" b="b" t="t" l="l"/>
              <a:pathLst>
                <a:path h="536448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3716000" y="2651760"/>
            <a:ext cx="3145536" cy="402336"/>
            <a:chOff x="0" y="0"/>
            <a:chExt cx="4194048" cy="53644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4194048" cy="536448"/>
            </a:xfrm>
            <a:custGeom>
              <a:avLst/>
              <a:gdLst/>
              <a:ahLst/>
              <a:cxnLst/>
              <a:rect r="r" b="b" t="t" l="l"/>
              <a:pathLst>
                <a:path h="536448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0B1E3E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16952976" y="2523744"/>
            <a:ext cx="658368" cy="694944"/>
            <a:chOff x="0" y="0"/>
            <a:chExt cx="877824" cy="926592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877824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5525" t="0" r="-85526" b="0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6952976" y="2495169"/>
            <a:ext cx="658368" cy="723519"/>
            <a:chOff x="0" y="0"/>
            <a:chExt cx="877824" cy="96469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877824" cy="964692"/>
            </a:xfrm>
            <a:custGeom>
              <a:avLst/>
              <a:gdLst/>
              <a:ahLst/>
              <a:cxnLst/>
              <a:rect r="r" b="b" t="t" l="l"/>
              <a:pathLst>
                <a:path h="964692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000" t="0" r="-91000" b="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877824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30.8%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0863072" y="3346704"/>
            <a:ext cx="2779776" cy="694944"/>
            <a:chOff x="0" y="0"/>
            <a:chExt cx="3706368" cy="926592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3706368" cy="926592"/>
            </a:xfrm>
            <a:custGeom>
              <a:avLst/>
              <a:gdLst/>
              <a:ahLst/>
              <a:cxnLst/>
              <a:rect r="r" b="b" t="t" l="l"/>
              <a:pathLst>
                <a:path h="926592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86" r="0" b="-27885"/>
              </a:stretch>
            </a:blip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0863072" y="3318129"/>
            <a:ext cx="2779776" cy="723519"/>
            <a:chOff x="0" y="0"/>
            <a:chExt cx="3706368" cy="96469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3706368" cy="964692"/>
            </a:xfrm>
            <a:custGeom>
              <a:avLst/>
              <a:gdLst/>
              <a:ahLst/>
              <a:cxnLst/>
              <a:rect r="r" b="b" t="t" l="l"/>
              <a:pathLst>
                <a:path h="964692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61" r="0" b="-24861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3706368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LLMs &amp; Machine Learning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3716000" y="3474720"/>
            <a:ext cx="3145536" cy="402336"/>
            <a:chOff x="0" y="0"/>
            <a:chExt cx="4194048" cy="53644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4194048" cy="536448"/>
            </a:xfrm>
            <a:custGeom>
              <a:avLst/>
              <a:gdLst/>
              <a:ahLst/>
              <a:cxnLst/>
              <a:rect r="r" b="b" t="t" l="l"/>
              <a:pathLst>
                <a:path h="536448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13716000" y="3474720"/>
            <a:ext cx="1449867" cy="402336"/>
            <a:chOff x="0" y="0"/>
            <a:chExt cx="1933156" cy="536448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1933194" cy="536448"/>
            </a:xfrm>
            <a:custGeom>
              <a:avLst/>
              <a:gdLst/>
              <a:ahLst/>
              <a:cxnLst/>
              <a:rect r="r" b="b" t="t" l="l"/>
              <a:pathLst>
                <a:path h="536448" w="1933194">
                  <a:moveTo>
                    <a:pt x="0" y="0"/>
                  </a:moveTo>
                  <a:lnTo>
                    <a:pt x="1933194" y="0"/>
                  </a:lnTo>
                  <a:lnTo>
                    <a:pt x="193319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16952976" y="3346704"/>
            <a:ext cx="658368" cy="694944"/>
            <a:chOff x="0" y="0"/>
            <a:chExt cx="877824" cy="926592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877824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5525" t="0" r="-85526" b="0"/>
              </a:stretch>
            </a:blip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6952976" y="3318129"/>
            <a:ext cx="658368" cy="723519"/>
            <a:chOff x="0" y="0"/>
            <a:chExt cx="877824" cy="964692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877824" cy="964692"/>
            </a:xfrm>
            <a:custGeom>
              <a:avLst/>
              <a:gdLst/>
              <a:ahLst/>
              <a:cxnLst/>
              <a:rect r="r" b="b" t="t" l="l"/>
              <a:pathLst>
                <a:path h="964692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000" t="0" r="-91000" b="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877824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14.2%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0863072" y="4169664"/>
            <a:ext cx="2779776" cy="694944"/>
            <a:chOff x="0" y="0"/>
            <a:chExt cx="3706368" cy="926592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3706368" cy="926592"/>
            </a:xfrm>
            <a:custGeom>
              <a:avLst/>
              <a:gdLst/>
              <a:ahLst/>
              <a:cxnLst/>
              <a:rect r="r" b="b" t="t" l="l"/>
              <a:pathLst>
                <a:path h="926592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86" r="0" b="-27885"/>
              </a:stretch>
            </a:blip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10863072" y="4141089"/>
            <a:ext cx="2779776" cy="723519"/>
            <a:chOff x="0" y="0"/>
            <a:chExt cx="3706368" cy="964692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3706368" cy="964692"/>
            </a:xfrm>
            <a:custGeom>
              <a:avLst/>
              <a:gdLst/>
              <a:ahLst/>
              <a:cxnLst/>
              <a:rect r="r" b="b" t="t" l="l"/>
              <a:pathLst>
                <a:path h="964692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61" r="0" b="-24861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38100"/>
              <a:ext cx="3706368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Mathematical Analysis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13716000" y="4297680"/>
            <a:ext cx="3145536" cy="402336"/>
            <a:chOff x="0" y="0"/>
            <a:chExt cx="4194048" cy="536448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4194048" cy="536448"/>
            </a:xfrm>
            <a:custGeom>
              <a:avLst/>
              <a:gdLst/>
              <a:ahLst/>
              <a:cxnLst/>
              <a:rect r="r" b="b" t="t" l="l"/>
              <a:pathLst>
                <a:path h="536448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13716000" y="4297680"/>
            <a:ext cx="1163774" cy="402336"/>
            <a:chOff x="0" y="0"/>
            <a:chExt cx="1551699" cy="536448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551686" cy="536448"/>
            </a:xfrm>
            <a:custGeom>
              <a:avLst/>
              <a:gdLst/>
              <a:ahLst/>
              <a:cxnLst/>
              <a:rect r="r" b="b" t="t" l="l"/>
              <a:pathLst>
                <a:path h="536448" w="1551686">
                  <a:moveTo>
                    <a:pt x="0" y="0"/>
                  </a:moveTo>
                  <a:lnTo>
                    <a:pt x="1551686" y="0"/>
                  </a:lnTo>
                  <a:lnTo>
                    <a:pt x="1551686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6952976" y="4169664"/>
            <a:ext cx="658368" cy="694944"/>
            <a:chOff x="0" y="0"/>
            <a:chExt cx="877824" cy="926592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877824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5525" t="0" r="-85526" b="0"/>
              </a:stretch>
            </a:blip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6952976" y="4141089"/>
            <a:ext cx="658368" cy="723519"/>
            <a:chOff x="0" y="0"/>
            <a:chExt cx="877824" cy="964692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877824" cy="964692"/>
            </a:xfrm>
            <a:custGeom>
              <a:avLst/>
              <a:gdLst/>
              <a:ahLst/>
              <a:cxnLst/>
              <a:rect r="r" b="b" t="t" l="l"/>
              <a:pathLst>
                <a:path h="964692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000" t="0" r="-91000" b="0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38100"/>
              <a:ext cx="877824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11.4%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0863072" y="4992624"/>
            <a:ext cx="2779776" cy="694944"/>
            <a:chOff x="0" y="0"/>
            <a:chExt cx="3706368" cy="926592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3706368" cy="926592"/>
            </a:xfrm>
            <a:custGeom>
              <a:avLst/>
              <a:gdLst/>
              <a:ahLst/>
              <a:cxnLst/>
              <a:rect r="r" b="b" t="t" l="l"/>
              <a:pathLst>
                <a:path h="926592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86" r="0" b="-27885"/>
              </a:stretch>
            </a:blip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0863072" y="4964049"/>
            <a:ext cx="2779776" cy="723519"/>
            <a:chOff x="0" y="0"/>
            <a:chExt cx="3706368" cy="964692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3706368" cy="964692"/>
            </a:xfrm>
            <a:custGeom>
              <a:avLst/>
              <a:gdLst/>
              <a:ahLst/>
              <a:cxnLst/>
              <a:rect r="r" b="b" t="t" l="l"/>
              <a:pathLst>
                <a:path h="964692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61" r="0" b="-24861"/>
              </a:stretch>
            </a:blipFill>
          </p:spPr>
        </p:sp>
        <p:sp>
          <p:nvSpPr>
            <p:cNvPr name="TextBox 170" id="170"/>
            <p:cNvSpPr txBox="true"/>
            <p:nvPr/>
          </p:nvSpPr>
          <p:spPr>
            <a:xfrm>
              <a:off x="0" y="-38100"/>
              <a:ext cx="3706368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Astrophysics &amp; Stellar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13716000" y="5120640"/>
            <a:ext cx="3145536" cy="402336"/>
            <a:chOff x="0" y="0"/>
            <a:chExt cx="4194048" cy="536448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4194048" cy="536448"/>
            </a:xfrm>
            <a:custGeom>
              <a:avLst/>
              <a:gdLst/>
              <a:ahLst/>
              <a:cxnLst/>
              <a:rect r="r" b="b" t="t" l="l"/>
              <a:pathLst>
                <a:path h="536448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716000" y="5120640"/>
            <a:ext cx="1000944" cy="402336"/>
            <a:chOff x="0" y="0"/>
            <a:chExt cx="1334592" cy="536448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1334643" cy="536448"/>
            </a:xfrm>
            <a:custGeom>
              <a:avLst/>
              <a:gdLst/>
              <a:ahLst/>
              <a:cxnLst/>
              <a:rect r="r" b="b" t="t" l="l"/>
              <a:pathLst>
                <a:path h="536448" w="1334643">
                  <a:moveTo>
                    <a:pt x="0" y="0"/>
                  </a:moveTo>
                  <a:lnTo>
                    <a:pt x="1334643" y="0"/>
                  </a:lnTo>
                  <a:lnTo>
                    <a:pt x="1334643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047857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6952976" y="4992624"/>
            <a:ext cx="658368" cy="694944"/>
            <a:chOff x="0" y="0"/>
            <a:chExt cx="877824" cy="926592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877824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5525" t="0" r="-85526" b="0"/>
              </a:stretch>
            </a:blip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6952976" y="4964049"/>
            <a:ext cx="658368" cy="723519"/>
            <a:chOff x="0" y="0"/>
            <a:chExt cx="877824" cy="964692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877824" cy="964692"/>
            </a:xfrm>
            <a:custGeom>
              <a:avLst/>
              <a:gdLst/>
              <a:ahLst/>
              <a:cxnLst/>
              <a:rect r="r" b="b" t="t" l="l"/>
              <a:pathLst>
                <a:path h="964692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000" t="0" r="-91000" b="0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-38100"/>
              <a:ext cx="877824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9.8%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10863072" y="5815584"/>
            <a:ext cx="2779776" cy="694944"/>
            <a:chOff x="0" y="0"/>
            <a:chExt cx="3706368" cy="926592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3706368" cy="926592"/>
            </a:xfrm>
            <a:custGeom>
              <a:avLst/>
              <a:gdLst/>
              <a:ahLst/>
              <a:cxnLst/>
              <a:rect r="r" b="b" t="t" l="l"/>
              <a:pathLst>
                <a:path h="926592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86" r="0" b="-27885"/>
              </a:stretch>
            </a:blip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10863072" y="5787009"/>
            <a:ext cx="2779776" cy="723519"/>
            <a:chOff x="0" y="0"/>
            <a:chExt cx="3706368" cy="964692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3706368" cy="964692"/>
            </a:xfrm>
            <a:custGeom>
              <a:avLst/>
              <a:gdLst/>
              <a:ahLst/>
              <a:cxnLst/>
              <a:rect r="r" b="b" t="t" l="l"/>
              <a:pathLst>
                <a:path h="964692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61" r="0" b="-2486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3706368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Quantum Info &amp; Computing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3716000" y="5943600"/>
            <a:ext cx="3145536" cy="402336"/>
            <a:chOff x="0" y="0"/>
            <a:chExt cx="4194048" cy="53644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194048" cy="536448"/>
            </a:xfrm>
            <a:custGeom>
              <a:avLst/>
              <a:gdLst/>
              <a:ahLst/>
              <a:cxnLst/>
              <a:rect r="r" b="b" t="t" l="l"/>
              <a:pathLst>
                <a:path h="536448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7" id="187"/>
          <p:cNvGrpSpPr/>
          <p:nvPr/>
        </p:nvGrpSpPr>
        <p:grpSpPr>
          <a:xfrm rot="0">
            <a:off x="13716000" y="5943600"/>
            <a:ext cx="745503" cy="402336"/>
            <a:chOff x="0" y="0"/>
            <a:chExt cx="994004" cy="536448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994029" cy="536448"/>
            </a:xfrm>
            <a:custGeom>
              <a:avLst/>
              <a:gdLst/>
              <a:ahLst/>
              <a:cxnLst/>
              <a:rect r="r" b="b" t="t" l="l"/>
              <a:pathLst>
                <a:path h="536448" w="994029">
                  <a:moveTo>
                    <a:pt x="0" y="0"/>
                  </a:moveTo>
                  <a:lnTo>
                    <a:pt x="994029" y="0"/>
                  </a:lnTo>
                  <a:lnTo>
                    <a:pt x="994029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189" id="189"/>
          <p:cNvGrpSpPr/>
          <p:nvPr/>
        </p:nvGrpSpPr>
        <p:grpSpPr>
          <a:xfrm rot="0">
            <a:off x="16952976" y="5815584"/>
            <a:ext cx="658368" cy="694944"/>
            <a:chOff x="0" y="0"/>
            <a:chExt cx="877824" cy="926592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877824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5525" t="0" r="-85526" b="0"/>
              </a:stretch>
            </a:blip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6952976" y="5787009"/>
            <a:ext cx="658368" cy="723519"/>
            <a:chOff x="0" y="0"/>
            <a:chExt cx="877824" cy="964692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877824" cy="964692"/>
            </a:xfrm>
            <a:custGeom>
              <a:avLst/>
              <a:gdLst/>
              <a:ahLst/>
              <a:cxnLst/>
              <a:rect r="r" b="b" t="t" l="l"/>
              <a:pathLst>
                <a:path h="964692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000" t="0" r="-91000" b="0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38100"/>
              <a:ext cx="877824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7.3%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0863072" y="6638544"/>
            <a:ext cx="2779776" cy="694944"/>
            <a:chOff x="0" y="0"/>
            <a:chExt cx="3706368" cy="926592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706368" cy="926592"/>
            </a:xfrm>
            <a:custGeom>
              <a:avLst/>
              <a:gdLst/>
              <a:ahLst/>
              <a:cxnLst/>
              <a:rect r="r" b="b" t="t" l="l"/>
              <a:pathLst>
                <a:path h="926592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86" r="0" b="-27885"/>
              </a:stretch>
            </a:blipFill>
          </p:spPr>
        </p:sp>
      </p:grpSp>
      <p:grpSp>
        <p:nvGrpSpPr>
          <p:cNvPr name="Group 196" id="196"/>
          <p:cNvGrpSpPr/>
          <p:nvPr/>
        </p:nvGrpSpPr>
        <p:grpSpPr>
          <a:xfrm rot="0">
            <a:off x="10863072" y="6609969"/>
            <a:ext cx="2779776" cy="723519"/>
            <a:chOff x="0" y="0"/>
            <a:chExt cx="3706368" cy="964692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3706368" cy="964692"/>
            </a:xfrm>
            <a:custGeom>
              <a:avLst/>
              <a:gdLst/>
              <a:ahLst/>
              <a:cxnLst/>
              <a:rect r="r" b="b" t="t" l="l"/>
              <a:pathLst>
                <a:path h="964692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61" r="0" b="-24861"/>
              </a:stretch>
            </a:blipFill>
          </p:spPr>
        </p:sp>
        <p:sp>
          <p:nvSpPr>
            <p:cNvPr name="TextBox 198" id="198"/>
            <p:cNvSpPr txBox="true"/>
            <p:nvPr/>
          </p:nvSpPr>
          <p:spPr>
            <a:xfrm>
              <a:off x="0" y="-38100"/>
              <a:ext cx="3706368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B1E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Particle Physics &amp; High Energy</a:t>
              </a:r>
            </a:p>
          </p:txBody>
        </p:sp>
      </p:grpSp>
      <p:grpSp>
        <p:nvGrpSpPr>
          <p:cNvPr name="Group 199" id="199"/>
          <p:cNvGrpSpPr/>
          <p:nvPr/>
        </p:nvGrpSpPr>
        <p:grpSpPr>
          <a:xfrm rot="0">
            <a:off x="13716000" y="6766560"/>
            <a:ext cx="3145536" cy="402336"/>
            <a:chOff x="0" y="0"/>
            <a:chExt cx="4194048" cy="536448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4194048" cy="536448"/>
            </a:xfrm>
            <a:custGeom>
              <a:avLst/>
              <a:gdLst/>
              <a:ahLst/>
              <a:cxnLst/>
              <a:rect r="r" b="b" t="t" l="l"/>
              <a:pathLst>
                <a:path h="536448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1" id="201"/>
          <p:cNvGrpSpPr/>
          <p:nvPr/>
        </p:nvGrpSpPr>
        <p:grpSpPr>
          <a:xfrm rot="0">
            <a:off x="13716000" y="6766560"/>
            <a:ext cx="521008" cy="402336"/>
            <a:chOff x="0" y="0"/>
            <a:chExt cx="694677" cy="536448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694690" cy="536448"/>
            </a:xfrm>
            <a:custGeom>
              <a:avLst/>
              <a:gdLst/>
              <a:ahLst/>
              <a:cxnLst/>
              <a:rect r="r" b="b" t="t" l="l"/>
              <a:pathLst>
                <a:path h="536448" w="694690">
                  <a:moveTo>
                    <a:pt x="0" y="0"/>
                  </a:moveTo>
                  <a:lnTo>
                    <a:pt x="694690" y="0"/>
                  </a:lnTo>
                  <a:lnTo>
                    <a:pt x="69469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203" id="203"/>
          <p:cNvGrpSpPr/>
          <p:nvPr/>
        </p:nvGrpSpPr>
        <p:grpSpPr>
          <a:xfrm rot="0">
            <a:off x="16952976" y="6638544"/>
            <a:ext cx="658368" cy="694944"/>
            <a:chOff x="0" y="0"/>
            <a:chExt cx="877824" cy="926592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877824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5525" t="0" r="-85526" b="0"/>
              </a:stretch>
            </a:blipFill>
          </p:spPr>
        </p:sp>
      </p:grpSp>
      <p:grpSp>
        <p:nvGrpSpPr>
          <p:cNvPr name="Group 205" id="205"/>
          <p:cNvGrpSpPr/>
          <p:nvPr/>
        </p:nvGrpSpPr>
        <p:grpSpPr>
          <a:xfrm rot="0">
            <a:off x="16952976" y="6609969"/>
            <a:ext cx="658368" cy="723519"/>
            <a:chOff x="0" y="0"/>
            <a:chExt cx="877824" cy="964692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877824" cy="964692"/>
            </a:xfrm>
            <a:custGeom>
              <a:avLst/>
              <a:gdLst/>
              <a:ahLst/>
              <a:cxnLst/>
              <a:rect r="r" b="b" t="t" l="l"/>
              <a:pathLst>
                <a:path h="964692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000" t="0" r="-91000" b="0"/>
              </a:stretch>
            </a:blipFill>
          </p:spPr>
        </p:sp>
        <p:sp>
          <p:nvSpPr>
            <p:cNvPr name="TextBox 207" id="207"/>
            <p:cNvSpPr txBox="true"/>
            <p:nvPr/>
          </p:nvSpPr>
          <p:spPr>
            <a:xfrm>
              <a:off x="0" y="-38100"/>
              <a:ext cx="877824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5.1%</a:t>
              </a:r>
            </a:p>
          </p:txBody>
        </p:sp>
      </p:grpSp>
      <p:sp>
        <p:nvSpPr>
          <p:cNvPr name="Freeform 208" id="208"/>
          <p:cNvSpPr/>
          <p:nvPr/>
        </p:nvSpPr>
        <p:spPr>
          <a:xfrm flipH="false" flipV="false" rot="0">
            <a:off x="10704071" y="7485383"/>
            <a:ext cx="6938200" cy="1214057"/>
          </a:xfrm>
          <a:custGeom>
            <a:avLst/>
            <a:gdLst/>
            <a:ahLst/>
            <a:cxnLst/>
            <a:rect r="r" b="b" t="t" l="l"/>
            <a:pathLst>
              <a:path h="1214057" w="6938200">
                <a:moveTo>
                  <a:pt x="0" y="0"/>
                </a:moveTo>
                <a:lnTo>
                  <a:pt x="6938201" y="0"/>
                </a:lnTo>
                <a:lnTo>
                  <a:pt x="6938201" y="1214057"/>
                </a:lnTo>
                <a:lnTo>
                  <a:pt x="0" y="12140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9" id="209"/>
          <p:cNvSpPr txBox="true"/>
          <p:nvPr/>
        </p:nvSpPr>
        <p:spPr>
          <a:xfrm rot="0">
            <a:off x="11009386" y="7552563"/>
            <a:ext cx="6327648" cy="108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0B1E3E"/>
                </a:solidFill>
                <a:latin typeface="Calibri (MS)"/>
                <a:ea typeface="Calibri (MS)"/>
                <a:cs typeface="Calibri (MS)"/>
                <a:sym typeface="Calibri (MS)"/>
              </a:rPr>
              <a:t>Topic 0 (Gen. Physics) has highest doc count — dominant area.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0B1E3E"/>
                </a:solidFill>
                <a:latin typeface="Calibri (MS)"/>
                <a:ea typeface="Calibri (MS)"/>
                <a:cs typeface="Calibri (MS)"/>
                <a:sym typeface="Calibri (MS)"/>
              </a:rPr>
              <a:t>Environmental &amp; Quantum = emerging / niche topics.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0B1E3E"/>
                </a:solidFill>
                <a:latin typeface="Calibri (MS)"/>
                <a:ea typeface="Calibri (MS)"/>
                <a:cs typeface="Calibri (MS)"/>
                <a:sym typeface="Calibri (MS)"/>
              </a:rPr>
              <a:t>Uneven distribution reflects real research trends.</a:t>
            </a:r>
          </a:p>
        </p:txBody>
      </p:sp>
      <p:grpSp>
        <p:nvGrpSpPr>
          <p:cNvPr name="Group 210" id="210"/>
          <p:cNvGrpSpPr/>
          <p:nvPr/>
        </p:nvGrpSpPr>
        <p:grpSpPr>
          <a:xfrm rot="0">
            <a:off x="658368" y="8741664"/>
            <a:ext cx="5559552" cy="1316736"/>
            <a:chOff x="0" y="0"/>
            <a:chExt cx="7412736" cy="1755648"/>
          </a:xfrm>
        </p:grpSpPr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7412736" cy="1755648"/>
            </a:xfrm>
            <a:custGeom>
              <a:avLst/>
              <a:gdLst/>
              <a:ahLst/>
              <a:cxnLst/>
              <a:rect r="r" b="b" t="t" l="l"/>
              <a:pathLst>
                <a:path h="1755648" w="7412736">
                  <a:moveTo>
                    <a:pt x="0" y="0"/>
                  </a:moveTo>
                  <a:lnTo>
                    <a:pt x="7412736" y="0"/>
                  </a:lnTo>
                  <a:lnTo>
                    <a:pt x="7412736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B1E3E"/>
            </a:solidFill>
          </p:spPr>
        </p:sp>
      </p:grpSp>
      <p:grpSp>
        <p:nvGrpSpPr>
          <p:cNvPr name="Group 212" id="212"/>
          <p:cNvGrpSpPr/>
          <p:nvPr/>
        </p:nvGrpSpPr>
        <p:grpSpPr>
          <a:xfrm rot="0">
            <a:off x="658368" y="8778240"/>
            <a:ext cx="5559552" cy="658368"/>
            <a:chOff x="0" y="0"/>
            <a:chExt cx="7412736" cy="877824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7412736" cy="877824"/>
            </a:xfrm>
            <a:custGeom>
              <a:avLst/>
              <a:gdLst/>
              <a:ahLst/>
              <a:cxnLst/>
              <a:rect r="r" b="b" t="t" l="l"/>
              <a:pathLst>
                <a:path h="877824" w="7412736">
                  <a:moveTo>
                    <a:pt x="0" y="0"/>
                  </a:moveTo>
                  <a:lnTo>
                    <a:pt x="7412736" y="0"/>
                  </a:lnTo>
                  <a:lnTo>
                    <a:pt x="741273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425" r="0" b="-114425"/>
              </a:stretch>
            </a:blipFill>
          </p:spPr>
        </p:sp>
      </p:grpSp>
      <p:grpSp>
        <p:nvGrpSpPr>
          <p:cNvPr name="Group 214" id="214"/>
          <p:cNvGrpSpPr/>
          <p:nvPr/>
        </p:nvGrpSpPr>
        <p:grpSpPr>
          <a:xfrm rot="0">
            <a:off x="658368" y="8721090"/>
            <a:ext cx="5559552" cy="715518"/>
            <a:chOff x="0" y="0"/>
            <a:chExt cx="7412736" cy="954024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7412736" cy="954024"/>
            </a:xfrm>
            <a:custGeom>
              <a:avLst/>
              <a:gdLst/>
              <a:ahLst/>
              <a:cxnLst/>
              <a:rect r="r" b="b" t="t" l="l"/>
              <a:pathLst>
                <a:path h="954024" w="7412736">
                  <a:moveTo>
                    <a:pt x="0" y="0"/>
                  </a:moveTo>
                  <a:lnTo>
                    <a:pt x="7412736" y="0"/>
                  </a:lnTo>
                  <a:lnTo>
                    <a:pt x="7412736" y="954024"/>
                  </a:lnTo>
                  <a:lnTo>
                    <a:pt x="0" y="9540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398" r="0" b="-101398"/>
              </a:stretch>
            </a:blipFill>
          </p:spPr>
        </p:sp>
        <p:sp>
          <p:nvSpPr>
            <p:cNvPr name="TextBox 216" id="216"/>
            <p:cNvSpPr txBox="true"/>
            <p:nvPr/>
          </p:nvSpPr>
          <p:spPr>
            <a:xfrm>
              <a:off x="0" y="-76200"/>
              <a:ext cx="7412736" cy="1030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NMF</a:t>
              </a:r>
            </a:p>
          </p:txBody>
        </p:sp>
      </p:grpSp>
      <p:sp>
        <p:nvSpPr>
          <p:cNvPr name="TextBox 217" id="217"/>
          <p:cNvSpPr txBox="true"/>
          <p:nvPr/>
        </p:nvSpPr>
        <p:spPr>
          <a:xfrm rot="0">
            <a:off x="749808" y="9406128"/>
            <a:ext cx="537667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7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Model Used</a:t>
            </a:r>
          </a:p>
        </p:txBody>
      </p:sp>
      <p:grpSp>
        <p:nvGrpSpPr>
          <p:cNvPr name="Group 218" id="218"/>
          <p:cNvGrpSpPr/>
          <p:nvPr/>
        </p:nvGrpSpPr>
        <p:grpSpPr>
          <a:xfrm rot="0">
            <a:off x="6510528" y="8741664"/>
            <a:ext cx="5559552" cy="1316736"/>
            <a:chOff x="0" y="0"/>
            <a:chExt cx="7412736" cy="1755648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7412736" cy="1755648"/>
            </a:xfrm>
            <a:custGeom>
              <a:avLst/>
              <a:gdLst/>
              <a:ahLst/>
              <a:cxnLst/>
              <a:rect r="r" b="b" t="t" l="l"/>
              <a:pathLst>
                <a:path h="1755648" w="7412736">
                  <a:moveTo>
                    <a:pt x="0" y="0"/>
                  </a:moveTo>
                  <a:lnTo>
                    <a:pt x="7412736" y="0"/>
                  </a:lnTo>
                  <a:lnTo>
                    <a:pt x="7412736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B1E3E"/>
            </a:solid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6510528" y="8778240"/>
            <a:ext cx="5559552" cy="658368"/>
            <a:chOff x="0" y="0"/>
            <a:chExt cx="7412736" cy="877824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7412736" cy="877824"/>
            </a:xfrm>
            <a:custGeom>
              <a:avLst/>
              <a:gdLst/>
              <a:ahLst/>
              <a:cxnLst/>
              <a:rect r="r" b="b" t="t" l="l"/>
              <a:pathLst>
                <a:path h="877824" w="7412736">
                  <a:moveTo>
                    <a:pt x="0" y="0"/>
                  </a:moveTo>
                  <a:lnTo>
                    <a:pt x="7412736" y="0"/>
                  </a:lnTo>
                  <a:lnTo>
                    <a:pt x="741273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425" r="0" b="-114425"/>
              </a:stretch>
            </a:blipFill>
          </p:spPr>
        </p:sp>
      </p:grpSp>
      <p:grpSp>
        <p:nvGrpSpPr>
          <p:cNvPr name="Group 222" id="222"/>
          <p:cNvGrpSpPr/>
          <p:nvPr/>
        </p:nvGrpSpPr>
        <p:grpSpPr>
          <a:xfrm rot="0">
            <a:off x="6510528" y="8721090"/>
            <a:ext cx="5559552" cy="715518"/>
            <a:chOff x="0" y="0"/>
            <a:chExt cx="7412736" cy="954024"/>
          </a:xfrm>
        </p:grpSpPr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7412736" cy="954024"/>
            </a:xfrm>
            <a:custGeom>
              <a:avLst/>
              <a:gdLst/>
              <a:ahLst/>
              <a:cxnLst/>
              <a:rect r="r" b="b" t="t" l="l"/>
              <a:pathLst>
                <a:path h="954024" w="7412736">
                  <a:moveTo>
                    <a:pt x="0" y="0"/>
                  </a:moveTo>
                  <a:lnTo>
                    <a:pt x="7412736" y="0"/>
                  </a:lnTo>
                  <a:lnTo>
                    <a:pt x="7412736" y="954024"/>
                  </a:lnTo>
                  <a:lnTo>
                    <a:pt x="0" y="9540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398" r="0" b="-101398"/>
              </a:stretch>
            </a:blipFill>
          </p:spPr>
        </p:sp>
        <p:sp>
          <p:nvSpPr>
            <p:cNvPr name="TextBox 224" id="224"/>
            <p:cNvSpPr txBox="true"/>
            <p:nvPr/>
          </p:nvSpPr>
          <p:spPr>
            <a:xfrm>
              <a:off x="0" y="-76200"/>
              <a:ext cx="7412736" cy="1030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</a:t>
              </a:r>
            </a:p>
          </p:txBody>
        </p:sp>
      </p:grpSp>
      <p:sp>
        <p:nvSpPr>
          <p:cNvPr name="TextBox 225" id="225"/>
          <p:cNvSpPr txBox="true"/>
          <p:nvPr/>
        </p:nvSpPr>
        <p:spPr>
          <a:xfrm rot="0">
            <a:off x="6601968" y="9406128"/>
            <a:ext cx="537667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7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Total Topics  K</a:t>
            </a:r>
          </a:p>
        </p:txBody>
      </p:sp>
      <p:grpSp>
        <p:nvGrpSpPr>
          <p:cNvPr name="Group 226" id="226"/>
          <p:cNvGrpSpPr/>
          <p:nvPr/>
        </p:nvGrpSpPr>
        <p:grpSpPr>
          <a:xfrm rot="0">
            <a:off x="12362688" y="8741664"/>
            <a:ext cx="5559552" cy="1316736"/>
            <a:chOff x="0" y="0"/>
            <a:chExt cx="7412736" cy="1755648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7412736" cy="1755648"/>
            </a:xfrm>
            <a:custGeom>
              <a:avLst/>
              <a:gdLst/>
              <a:ahLst/>
              <a:cxnLst/>
              <a:rect r="r" b="b" t="t" l="l"/>
              <a:pathLst>
                <a:path h="1755648" w="7412736">
                  <a:moveTo>
                    <a:pt x="0" y="0"/>
                  </a:moveTo>
                  <a:lnTo>
                    <a:pt x="7412736" y="0"/>
                  </a:lnTo>
                  <a:lnTo>
                    <a:pt x="7412736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B1E3E"/>
            </a:solidFill>
          </p:spPr>
        </p:sp>
      </p:grpSp>
      <p:grpSp>
        <p:nvGrpSpPr>
          <p:cNvPr name="Group 228" id="228"/>
          <p:cNvGrpSpPr/>
          <p:nvPr/>
        </p:nvGrpSpPr>
        <p:grpSpPr>
          <a:xfrm rot="0">
            <a:off x="12362688" y="8778240"/>
            <a:ext cx="5559552" cy="658368"/>
            <a:chOff x="0" y="0"/>
            <a:chExt cx="7412736" cy="877824"/>
          </a:xfrm>
        </p:grpSpPr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7412736" cy="877824"/>
            </a:xfrm>
            <a:custGeom>
              <a:avLst/>
              <a:gdLst/>
              <a:ahLst/>
              <a:cxnLst/>
              <a:rect r="r" b="b" t="t" l="l"/>
              <a:pathLst>
                <a:path h="877824" w="7412736">
                  <a:moveTo>
                    <a:pt x="0" y="0"/>
                  </a:moveTo>
                  <a:lnTo>
                    <a:pt x="7412736" y="0"/>
                  </a:lnTo>
                  <a:lnTo>
                    <a:pt x="741273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425" r="0" b="-114425"/>
              </a:stretch>
            </a:blipFill>
          </p:spPr>
        </p:sp>
      </p:grpSp>
      <p:grpSp>
        <p:nvGrpSpPr>
          <p:cNvPr name="Group 230" id="230"/>
          <p:cNvGrpSpPr/>
          <p:nvPr/>
        </p:nvGrpSpPr>
        <p:grpSpPr>
          <a:xfrm rot="0">
            <a:off x="12362688" y="8721090"/>
            <a:ext cx="5559552" cy="715518"/>
            <a:chOff x="0" y="0"/>
            <a:chExt cx="7412736" cy="954024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7412736" cy="954024"/>
            </a:xfrm>
            <a:custGeom>
              <a:avLst/>
              <a:gdLst/>
              <a:ahLst/>
              <a:cxnLst/>
              <a:rect r="r" b="b" t="t" l="l"/>
              <a:pathLst>
                <a:path h="954024" w="7412736">
                  <a:moveTo>
                    <a:pt x="0" y="0"/>
                  </a:moveTo>
                  <a:lnTo>
                    <a:pt x="7412736" y="0"/>
                  </a:lnTo>
                  <a:lnTo>
                    <a:pt x="7412736" y="954024"/>
                  </a:lnTo>
                  <a:lnTo>
                    <a:pt x="0" y="9540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398" r="0" b="-101398"/>
              </a:stretch>
            </a:blipFill>
          </p:spPr>
        </p:sp>
        <p:sp>
          <p:nvSpPr>
            <p:cNvPr name="TextBox 232" id="232"/>
            <p:cNvSpPr txBox="true"/>
            <p:nvPr/>
          </p:nvSpPr>
          <p:spPr>
            <a:xfrm>
              <a:off x="0" y="-76200"/>
              <a:ext cx="7412736" cy="1030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2.96M</a:t>
              </a:r>
            </a:p>
          </p:txBody>
        </p:sp>
      </p:grpSp>
      <p:sp>
        <p:nvSpPr>
          <p:cNvPr name="TextBox 233" id="233"/>
          <p:cNvSpPr txBox="true"/>
          <p:nvPr/>
        </p:nvSpPr>
        <p:spPr>
          <a:xfrm rot="0">
            <a:off x="12454128" y="9406128"/>
            <a:ext cx="537667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7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Full Dataset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26464"/>
            <a:chOff x="0" y="0"/>
            <a:chExt cx="24384000" cy="19019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B1E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775936" y="0"/>
            <a:ext cx="512064" cy="1426464"/>
            <a:chOff x="0" y="0"/>
            <a:chExt cx="682752" cy="19019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2752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0"/>
            <a:ext cx="16642080" cy="1426464"/>
            <a:chOff x="0" y="0"/>
            <a:chExt cx="22189440" cy="19019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894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167" r="0" b="-17716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-7144"/>
            <a:ext cx="16642080" cy="1433608"/>
            <a:chOff x="0" y="0"/>
            <a:chExt cx="22189440" cy="19114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9439" cy="1911477"/>
            </a:xfrm>
            <a:custGeom>
              <a:avLst/>
              <a:gdLst/>
              <a:ahLst/>
              <a:cxnLst/>
              <a:rect r="r" b="b" t="t" l="l"/>
              <a:pathLst>
                <a:path h="1911477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911477"/>
                  </a:lnTo>
                  <a:lnTo>
                    <a:pt x="0" y="19114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192" r="0" b="-17619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2189440" cy="1921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Ethical &amp; Societal Considerations  (NB 05)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8368" y="1645920"/>
            <a:ext cx="8412480" cy="2596896"/>
            <a:chOff x="0" y="0"/>
            <a:chExt cx="11216640" cy="34625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16640" cy="3462528"/>
            </a:xfrm>
            <a:custGeom>
              <a:avLst/>
              <a:gdLst/>
              <a:ahLst/>
              <a:cxnLst/>
              <a:rect r="r" b="b" t="t" l="l"/>
              <a:pathLst>
                <a:path h="34625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58368" y="1645920"/>
            <a:ext cx="219456" cy="2596896"/>
            <a:chOff x="0" y="0"/>
            <a:chExt cx="292608" cy="34625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2608" cy="3462528"/>
            </a:xfrm>
            <a:custGeom>
              <a:avLst/>
              <a:gdLst/>
              <a:ahLst/>
              <a:cxnLst/>
              <a:rect r="r" b="b" t="t" l="l"/>
              <a:pathLst>
                <a:path h="346252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60704" y="1755648"/>
            <a:ext cx="804672" cy="804672"/>
            <a:chOff x="0" y="0"/>
            <a:chExt cx="1072896" cy="10728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60704" y="1755648"/>
            <a:ext cx="804672" cy="804672"/>
            <a:chOff x="0" y="0"/>
            <a:chExt cx="1072896" cy="10728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3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60704" y="1727073"/>
            <a:ext cx="804672" cy="833247"/>
            <a:chOff x="0" y="0"/>
            <a:chExt cx="1072896" cy="11109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2896" cy="1110996"/>
            </a:xfrm>
            <a:custGeom>
              <a:avLst/>
              <a:gdLst/>
              <a:ahLst/>
              <a:cxnLst/>
              <a:rect r="r" b="b" t="t" l="l"/>
              <a:pathLst>
                <a:path h="11109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859" t="0" r="-82859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72896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103120" y="1706118"/>
            <a:ext cx="665683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1E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&amp; Automation Benefits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45514" y="2717292"/>
            <a:ext cx="7644384" cy="1667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AI improves efficiency in industries, healthcare, and finance. Topic modelling accelerates literature discovery for researchers, cutting review time significantly.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509760" y="1645920"/>
            <a:ext cx="8412480" cy="2596896"/>
            <a:chOff x="0" y="0"/>
            <a:chExt cx="11216640" cy="34625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216640" cy="3462528"/>
            </a:xfrm>
            <a:custGeom>
              <a:avLst/>
              <a:gdLst/>
              <a:ahLst/>
              <a:cxnLst/>
              <a:rect r="r" b="b" t="t" l="l"/>
              <a:pathLst>
                <a:path h="34625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509760" y="1645920"/>
            <a:ext cx="219456" cy="2596896"/>
            <a:chOff x="0" y="0"/>
            <a:chExt cx="292608" cy="34625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2608" cy="3462528"/>
            </a:xfrm>
            <a:custGeom>
              <a:avLst/>
              <a:gdLst/>
              <a:ahLst/>
              <a:cxnLst/>
              <a:rect r="r" b="b" t="t" l="l"/>
              <a:pathLst>
                <a:path h="346252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04785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912096" y="1755648"/>
            <a:ext cx="804672" cy="804672"/>
            <a:chOff x="0" y="0"/>
            <a:chExt cx="1072896" cy="10728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04785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912096" y="1755648"/>
            <a:ext cx="804672" cy="804672"/>
            <a:chOff x="0" y="0"/>
            <a:chExt cx="1072896" cy="10728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3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912096" y="1727073"/>
            <a:ext cx="804672" cy="833247"/>
            <a:chOff x="0" y="0"/>
            <a:chExt cx="1072896" cy="11109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2896" cy="1110996"/>
            </a:xfrm>
            <a:custGeom>
              <a:avLst/>
              <a:gdLst/>
              <a:ahLst/>
              <a:cxnLst/>
              <a:rect r="r" b="b" t="t" l="l"/>
              <a:pathLst>
                <a:path h="11109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859" t="0" r="-8285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72896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DK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0954512" y="1706118"/>
            <a:ext cx="665683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1E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Democratising Research Access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003536" y="2717292"/>
            <a:ext cx="7644384" cy="1667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Enables researchers at low-resource institutions to navigate 2.96M papers without costly database subscriptions or domain expertise in every sub-field.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58368" y="4498848"/>
            <a:ext cx="9144000" cy="512064"/>
            <a:chOff x="0" y="0"/>
            <a:chExt cx="12192000" cy="6827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192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704" r="0" b="-297706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58368" y="4470273"/>
            <a:ext cx="9144000" cy="540639"/>
            <a:chOff x="0" y="0"/>
            <a:chExt cx="12192000" cy="7208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192000" cy="720852"/>
            </a:xfrm>
            <a:custGeom>
              <a:avLst/>
              <a:gdLst/>
              <a:ahLst/>
              <a:cxnLst/>
              <a:rect r="r" b="b" t="t" l="l"/>
              <a:pathLst>
                <a:path h="72085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556" r="0" b="-27955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219200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ETHICAL CONCERNS  (from NB 05)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58368" y="5120640"/>
            <a:ext cx="8412480" cy="2084832"/>
            <a:chOff x="0" y="0"/>
            <a:chExt cx="11216640" cy="277977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216640" cy="2779776"/>
            </a:xfrm>
            <a:custGeom>
              <a:avLst/>
              <a:gdLst/>
              <a:ahLst/>
              <a:cxnLst/>
              <a:rect r="r" b="b" t="t" l="l"/>
              <a:pathLst>
                <a:path h="2779776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779776"/>
                  </a:lnTo>
                  <a:lnTo>
                    <a:pt x="0" y="277977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8368" y="5120640"/>
            <a:ext cx="219456" cy="2084832"/>
            <a:chOff x="0" y="0"/>
            <a:chExt cx="292608" cy="277977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92608" cy="2779776"/>
            </a:xfrm>
            <a:custGeom>
              <a:avLst/>
              <a:gdLst/>
              <a:ahLst/>
              <a:cxnLst/>
              <a:rect r="r" b="b" t="t" l="l"/>
              <a:pathLst>
                <a:path h="2779776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779776"/>
                  </a:lnTo>
                  <a:lnTo>
                    <a:pt x="0" y="2779776"/>
                  </a:lnTo>
                  <a:close/>
                </a:path>
              </a:pathLst>
            </a:custGeom>
            <a:solidFill>
              <a:srgbClr val="B91C1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60704" y="5340096"/>
            <a:ext cx="694944" cy="694944"/>
            <a:chOff x="0" y="0"/>
            <a:chExt cx="926592" cy="9265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B91C1C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60704" y="5340096"/>
            <a:ext cx="694944" cy="694944"/>
            <a:chOff x="0" y="0"/>
            <a:chExt cx="926592" cy="9265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3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60704" y="5318665"/>
            <a:ext cx="694944" cy="716375"/>
            <a:chOff x="0" y="0"/>
            <a:chExt cx="926592" cy="95516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26592" cy="955167"/>
            </a:xfrm>
            <a:custGeom>
              <a:avLst/>
              <a:gdLst/>
              <a:ahLst/>
              <a:cxnLst/>
              <a:rect r="r" b="b" t="t" l="l"/>
              <a:pathLst>
                <a:path h="955167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55167"/>
                  </a:lnTo>
                  <a:lnTo>
                    <a:pt x="0" y="9551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260" t="0" r="-82260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2029968" y="5253990"/>
            <a:ext cx="6766560" cy="51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0B1E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Bias in Models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61669" y="6216015"/>
            <a:ext cx="764438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AI topic models trained on historical data can perpetuate existing biases — over-representing well-funded research areas.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9509760" y="5120640"/>
            <a:ext cx="8412480" cy="2084832"/>
            <a:chOff x="0" y="0"/>
            <a:chExt cx="11216640" cy="277977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216640" cy="2779776"/>
            </a:xfrm>
            <a:custGeom>
              <a:avLst/>
              <a:gdLst/>
              <a:ahLst/>
              <a:cxnLst/>
              <a:rect r="r" b="b" t="t" l="l"/>
              <a:pathLst>
                <a:path h="2779776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779776"/>
                  </a:lnTo>
                  <a:lnTo>
                    <a:pt x="0" y="277977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509760" y="5120640"/>
            <a:ext cx="219456" cy="2084832"/>
            <a:chOff x="0" y="0"/>
            <a:chExt cx="292608" cy="277977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92608" cy="2779776"/>
            </a:xfrm>
            <a:custGeom>
              <a:avLst/>
              <a:gdLst/>
              <a:ahLst/>
              <a:cxnLst/>
              <a:rect r="r" b="b" t="t" l="l"/>
              <a:pathLst>
                <a:path h="2779776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779776"/>
                  </a:lnTo>
                  <a:lnTo>
                    <a:pt x="0" y="2779776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912096" y="5340096"/>
            <a:ext cx="694944" cy="694944"/>
            <a:chOff x="0" y="0"/>
            <a:chExt cx="926592" cy="926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912096" y="5340096"/>
            <a:ext cx="694944" cy="694944"/>
            <a:chOff x="0" y="0"/>
            <a:chExt cx="926592" cy="9265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3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912096" y="5318665"/>
            <a:ext cx="694944" cy="716375"/>
            <a:chOff x="0" y="0"/>
            <a:chExt cx="926592" cy="95516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26592" cy="955167"/>
            </a:xfrm>
            <a:custGeom>
              <a:avLst/>
              <a:gdLst/>
              <a:ahLst/>
              <a:cxnLst/>
              <a:rect r="r" b="b" t="t" l="l"/>
              <a:pathLst>
                <a:path h="955167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55167"/>
                  </a:lnTo>
                  <a:lnTo>
                    <a:pt x="0" y="9551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260" t="0" r="-82260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0881360" y="5253990"/>
            <a:ext cx="6766560" cy="51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0B1E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Privacy &amp; Data Use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148316" y="6187440"/>
            <a:ext cx="7644384" cy="1155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Large-scale data collection raises privacy issues. This pipeline uses only public arXiv abstracts — no PII involved.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658368" y="7388352"/>
            <a:ext cx="8412480" cy="2084832"/>
            <a:chOff x="0" y="0"/>
            <a:chExt cx="11216640" cy="277977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216640" cy="2779776"/>
            </a:xfrm>
            <a:custGeom>
              <a:avLst/>
              <a:gdLst/>
              <a:ahLst/>
              <a:cxnLst/>
              <a:rect r="r" b="b" t="t" l="l"/>
              <a:pathLst>
                <a:path h="2779776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779776"/>
                  </a:lnTo>
                  <a:lnTo>
                    <a:pt x="0" y="277977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58368" y="7388352"/>
            <a:ext cx="219456" cy="2084832"/>
            <a:chOff x="0" y="0"/>
            <a:chExt cx="292608" cy="277977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92608" cy="2779776"/>
            </a:xfrm>
            <a:custGeom>
              <a:avLst/>
              <a:gdLst/>
              <a:ahLst/>
              <a:cxnLst/>
              <a:rect r="r" b="b" t="t" l="l"/>
              <a:pathLst>
                <a:path h="2779776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779776"/>
                  </a:lnTo>
                  <a:lnTo>
                    <a:pt x="0" y="2779776"/>
                  </a:ln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060704" y="7607808"/>
            <a:ext cx="694944" cy="694944"/>
            <a:chOff x="0" y="0"/>
            <a:chExt cx="926592" cy="92659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60704" y="7607808"/>
            <a:ext cx="694944" cy="694944"/>
            <a:chOff x="0" y="0"/>
            <a:chExt cx="926592" cy="92659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3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060704" y="7586377"/>
            <a:ext cx="694944" cy="716375"/>
            <a:chOff x="0" y="0"/>
            <a:chExt cx="926592" cy="955167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26592" cy="955167"/>
            </a:xfrm>
            <a:custGeom>
              <a:avLst/>
              <a:gdLst/>
              <a:ahLst/>
              <a:cxnLst/>
              <a:rect r="r" b="b" t="t" l="l"/>
              <a:pathLst>
                <a:path h="955167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55167"/>
                  </a:lnTo>
                  <a:lnTo>
                    <a:pt x="0" y="9551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260" t="0" r="-82260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MS</a:t>
              </a: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2029968" y="7521702"/>
            <a:ext cx="6766560" cy="51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0B1E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Misuse of Technology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61669" y="8455152"/>
            <a:ext cx="764438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topic discovery could be misused for surveillance of research directions or generating misinformation at scale.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9509760" y="7388352"/>
            <a:ext cx="8412480" cy="2084832"/>
            <a:chOff x="0" y="0"/>
            <a:chExt cx="11216640" cy="277977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1216640" cy="2779776"/>
            </a:xfrm>
            <a:custGeom>
              <a:avLst/>
              <a:gdLst/>
              <a:ahLst/>
              <a:cxnLst/>
              <a:rect r="r" b="b" t="t" l="l"/>
              <a:pathLst>
                <a:path h="2779776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779776"/>
                  </a:lnTo>
                  <a:lnTo>
                    <a:pt x="0" y="277977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509760" y="7388352"/>
            <a:ext cx="219456" cy="2084832"/>
            <a:chOff x="0" y="0"/>
            <a:chExt cx="292608" cy="277977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92608" cy="2779776"/>
            </a:xfrm>
            <a:custGeom>
              <a:avLst/>
              <a:gdLst/>
              <a:ahLst/>
              <a:cxnLst/>
              <a:rect r="r" b="b" t="t" l="l"/>
              <a:pathLst>
                <a:path h="2779776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779776"/>
                  </a:lnTo>
                  <a:lnTo>
                    <a:pt x="0" y="2779776"/>
                  </a:lnTo>
                  <a:close/>
                </a:path>
              </a:pathLst>
            </a:custGeom>
            <a:solidFill>
              <a:srgbClr val="6D28D9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912096" y="7607808"/>
            <a:ext cx="694944" cy="694944"/>
            <a:chOff x="0" y="0"/>
            <a:chExt cx="926592" cy="92659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6D28D9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912096" y="7607808"/>
            <a:ext cx="694944" cy="694944"/>
            <a:chOff x="0" y="0"/>
            <a:chExt cx="926592" cy="92659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3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912096" y="7586377"/>
            <a:ext cx="694944" cy="716375"/>
            <a:chOff x="0" y="0"/>
            <a:chExt cx="926592" cy="95516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26592" cy="955167"/>
            </a:xfrm>
            <a:custGeom>
              <a:avLst/>
              <a:gdLst/>
              <a:ahLst/>
              <a:cxnLst/>
              <a:rect r="r" b="b" t="t" l="l"/>
              <a:pathLst>
                <a:path h="955167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55167"/>
                  </a:lnTo>
                  <a:lnTo>
                    <a:pt x="0" y="9551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260" t="0" r="-82260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IE</a:t>
              </a:r>
            </a:p>
          </p:txBody>
        </p:sp>
      </p:grpSp>
      <p:sp>
        <p:nvSpPr>
          <p:cNvPr name="TextBox 92" id="92"/>
          <p:cNvSpPr txBox="true"/>
          <p:nvPr/>
        </p:nvSpPr>
        <p:spPr>
          <a:xfrm rot="0">
            <a:off x="10881360" y="7521702"/>
            <a:ext cx="6766560" cy="51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0B1E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Inequality of Access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0259568" y="8402193"/>
            <a:ext cx="7644384" cy="1155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Unequal access to compute resources means not all researchers can run these pipelines, widening the capability gap.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18720" y="0"/>
            <a:ext cx="5669280" cy="10287000"/>
            <a:chOff x="0" y="0"/>
            <a:chExt cx="755904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5904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162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402336" cy="10287000"/>
            <a:chOff x="0" y="0"/>
            <a:chExt cx="536448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644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50240" y="1005840"/>
            <a:ext cx="237744" cy="237744"/>
            <a:chOff x="0" y="0"/>
            <a:chExt cx="316992" cy="3169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666976" y="1005840"/>
            <a:ext cx="237744" cy="237744"/>
            <a:chOff x="0" y="0"/>
            <a:chExt cx="316992" cy="3169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983712" y="1005840"/>
            <a:ext cx="237744" cy="237744"/>
            <a:chOff x="0" y="0"/>
            <a:chExt cx="316992" cy="3169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350240" y="2542032"/>
            <a:ext cx="237744" cy="237744"/>
            <a:chOff x="0" y="0"/>
            <a:chExt cx="316992" cy="3169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666976" y="2542032"/>
            <a:ext cx="237744" cy="237744"/>
            <a:chOff x="0" y="0"/>
            <a:chExt cx="316992" cy="3169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983712" y="2542032"/>
            <a:ext cx="237744" cy="237744"/>
            <a:chOff x="0" y="0"/>
            <a:chExt cx="316992" cy="3169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350240" y="4078224"/>
            <a:ext cx="237744" cy="237744"/>
            <a:chOff x="0" y="0"/>
            <a:chExt cx="316992" cy="3169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666976" y="4078224"/>
            <a:ext cx="237744" cy="237744"/>
            <a:chOff x="0" y="0"/>
            <a:chExt cx="316992" cy="3169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983712" y="4078224"/>
            <a:ext cx="237744" cy="237744"/>
            <a:chOff x="0" y="0"/>
            <a:chExt cx="316992" cy="3169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350240" y="5614416"/>
            <a:ext cx="237744" cy="237744"/>
            <a:chOff x="0" y="0"/>
            <a:chExt cx="316992" cy="3169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666976" y="5614416"/>
            <a:ext cx="237744" cy="237744"/>
            <a:chOff x="0" y="0"/>
            <a:chExt cx="316992" cy="3169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5983712" y="5614416"/>
            <a:ext cx="237744" cy="237744"/>
            <a:chOff x="0" y="0"/>
            <a:chExt cx="316992" cy="3169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350240" y="7150608"/>
            <a:ext cx="237744" cy="237744"/>
            <a:chOff x="0" y="0"/>
            <a:chExt cx="316992" cy="3169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666976" y="7150608"/>
            <a:ext cx="237744" cy="237744"/>
            <a:chOff x="0" y="0"/>
            <a:chExt cx="316992" cy="3169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983712" y="7150608"/>
            <a:ext cx="237744" cy="237744"/>
            <a:chOff x="0" y="0"/>
            <a:chExt cx="316992" cy="3169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350240" y="8686800"/>
            <a:ext cx="237744" cy="237744"/>
            <a:chOff x="0" y="0"/>
            <a:chExt cx="316992" cy="3169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666976" y="8686800"/>
            <a:ext cx="237744" cy="237744"/>
            <a:chOff x="0" y="0"/>
            <a:chExt cx="316992" cy="3169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5983712" y="8686800"/>
            <a:ext cx="237744" cy="237744"/>
            <a:chOff x="0" y="0"/>
            <a:chExt cx="316992" cy="3169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0D9488">
                <a:alpha val="3922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68096" y="768096"/>
            <a:ext cx="4352544" cy="548640"/>
            <a:chOff x="0" y="0"/>
            <a:chExt cx="5803392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803392" cy="731520"/>
            </a:xfrm>
            <a:custGeom>
              <a:avLst/>
              <a:gdLst/>
              <a:ahLst/>
              <a:cxnLst/>
              <a:rect r="r" b="b" t="t" l="l"/>
              <a:pathLst>
                <a:path h="731520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68096" y="768096"/>
            <a:ext cx="4352544" cy="548640"/>
            <a:chOff x="0" y="0"/>
            <a:chExt cx="5803392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803392" cy="731520"/>
            </a:xfrm>
            <a:custGeom>
              <a:avLst/>
              <a:gdLst/>
              <a:ahLst/>
              <a:cxnLst/>
              <a:rect r="r" b="b" t="t" l="l"/>
              <a:pathLst>
                <a:path h="731520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473" r="0" b="-104473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68096" y="739521"/>
            <a:ext cx="4352544" cy="577215"/>
            <a:chOff x="0" y="0"/>
            <a:chExt cx="5803392" cy="7696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803392" cy="769620"/>
            </a:xfrm>
            <a:custGeom>
              <a:avLst/>
              <a:gdLst/>
              <a:ahLst/>
              <a:cxnLst/>
              <a:rect r="r" b="b" t="t" l="l"/>
              <a:pathLst>
                <a:path h="769620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928" r="0" b="-9692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803392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B1E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&amp; FUTURE WORK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859536" y="1636014"/>
            <a:ext cx="1097280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true">
                <a:solidFill>
                  <a:srgbClr val="5EEAD4"/>
                </a:solidFill>
                <a:latin typeface="Cambria Bold"/>
                <a:ea typeface="Cambria Bold"/>
                <a:cs typeface="Cambria Bold"/>
                <a:sym typeface="Cambria Bold"/>
              </a:rPr>
              <a:t>What We Built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768096" y="2596896"/>
            <a:ext cx="11155680" cy="1133856"/>
            <a:chOff x="0" y="0"/>
            <a:chExt cx="14874240" cy="151180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874239" cy="1511808"/>
            </a:xfrm>
            <a:custGeom>
              <a:avLst/>
              <a:gdLst/>
              <a:ahLst/>
              <a:cxnLst/>
              <a:rect r="r" b="b" t="t" l="l"/>
              <a:pathLst>
                <a:path h="1511808" w="14874239">
                  <a:moveTo>
                    <a:pt x="0" y="0"/>
                  </a:moveTo>
                  <a:lnTo>
                    <a:pt x="14874239" y="0"/>
                  </a:lnTo>
                  <a:lnTo>
                    <a:pt x="1487423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D2847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50976" y="2816352"/>
            <a:ext cx="658368" cy="658368"/>
            <a:chOff x="0" y="0"/>
            <a:chExt cx="877824" cy="8778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50976" y="2816352"/>
            <a:ext cx="658368" cy="658368"/>
            <a:chOff x="0" y="0"/>
            <a:chExt cx="877824" cy="87782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50976" y="2787777"/>
            <a:ext cx="658368" cy="686943"/>
            <a:chOff x="0" y="0"/>
            <a:chExt cx="877824" cy="91592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77824" cy="915924"/>
            </a:xfrm>
            <a:custGeom>
              <a:avLst/>
              <a:gdLst/>
              <a:ahLst/>
              <a:cxnLst/>
              <a:rect r="r" b="b" t="t" l="l"/>
              <a:pathLst>
                <a:path h="9159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15924"/>
                  </a:lnTo>
                  <a:lnTo>
                    <a:pt x="0" y="915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872" t="0" r="-83872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877824" cy="954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828800" y="2596896"/>
            <a:ext cx="9985248" cy="1133856"/>
            <a:chOff x="0" y="0"/>
            <a:chExt cx="13313664" cy="151180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313663" cy="1511808"/>
            </a:xfrm>
            <a:custGeom>
              <a:avLst/>
              <a:gdLst/>
              <a:ahLst/>
              <a:cxnLst/>
              <a:rect r="r" b="b" t="t" l="l"/>
              <a:pathLst>
                <a:path h="1511808" w="13313663">
                  <a:moveTo>
                    <a:pt x="0" y="0"/>
                  </a:moveTo>
                  <a:lnTo>
                    <a:pt x="13313663" y="0"/>
                  </a:lnTo>
                  <a:lnTo>
                    <a:pt x="13313663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475" r="0" b="-121474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828800" y="2568321"/>
            <a:ext cx="9985248" cy="1162431"/>
            <a:chOff x="0" y="0"/>
            <a:chExt cx="13313664" cy="154990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313665" cy="1549908"/>
            </a:xfrm>
            <a:custGeom>
              <a:avLst/>
              <a:gdLst/>
              <a:ahLst/>
              <a:cxnLst/>
              <a:rect r="r" b="b" t="t" l="l"/>
              <a:pathLst>
                <a:path h="1549908" w="13313665">
                  <a:moveTo>
                    <a:pt x="0" y="0"/>
                  </a:moveTo>
                  <a:lnTo>
                    <a:pt x="13313665" y="0"/>
                  </a:lnTo>
                  <a:lnTo>
                    <a:pt x="13313665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375" r="0" b="-11737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3313664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End-to-end pipeline: spaCy preprocessing → TF-IDF → MiniBatchNMF → t-SNE + pyLDAvis, on 2.96M arXiv papers.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68096" y="3950208"/>
            <a:ext cx="11155680" cy="1133856"/>
            <a:chOff x="0" y="0"/>
            <a:chExt cx="14874240" cy="151180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4874239" cy="1511808"/>
            </a:xfrm>
            <a:custGeom>
              <a:avLst/>
              <a:gdLst/>
              <a:ahLst/>
              <a:cxnLst/>
              <a:rect r="r" b="b" t="t" l="l"/>
              <a:pathLst>
                <a:path h="1511808" w="14874239">
                  <a:moveTo>
                    <a:pt x="0" y="0"/>
                  </a:moveTo>
                  <a:lnTo>
                    <a:pt x="14874239" y="0"/>
                  </a:lnTo>
                  <a:lnTo>
                    <a:pt x="1487423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D2847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50976" y="4169664"/>
            <a:ext cx="658368" cy="658368"/>
            <a:chOff x="0" y="0"/>
            <a:chExt cx="877824" cy="87782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50976" y="4169664"/>
            <a:ext cx="658368" cy="658368"/>
            <a:chOff x="0" y="0"/>
            <a:chExt cx="877824" cy="87782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50976" y="4141089"/>
            <a:ext cx="658368" cy="686943"/>
            <a:chOff x="0" y="0"/>
            <a:chExt cx="877824" cy="91592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77824" cy="915924"/>
            </a:xfrm>
            <a:custGeom>
              <a:avLst/>
              <a:gdLst/>
              <a:ahLst/>
              <a:cxnLst/>
              <a:rect r="r" b="b" t="t" l="l"/>
              <a:pathLst>
                <a:path h="9159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15924"/>
                  </a:lnTo>
                  <a:lnTo>
                    <a:pt x="0" y="915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872" t="0" r="-83872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877824" cy="954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828800" y="3950208"/>
            <a:ext cx="9985248" cy="1133856"/>
            <a:chOff x="0" y="0"/>
            <a:chExt cx="13313664" cy="151180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3313663" cy="1511808"/>
            </a:xfrm>
            <a:custGeom>
              <a:avLst/>
              <a:gdLst/>
              <a:ahLst/>
              <a:cxnLst/>
              <a:rect r="r" b="b" t="t" l="l"/>
              <a:pathLst>
                <a:path h="1511808" w="13313663">
                  <a:moveTo>
                    <a:pt x="0" y="0"/>
                  </a:moveTo>
                  <a:lnTo>
                    <a:pt x="13313663" y="0"/>
                  </a:lnTo>
                  <a:lnTo>
                    <a:pt x="13313663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475" r="0" b="-121474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828800" y="3921633"/>
            <a:ext cx="9985248" cy="1162431"/>
            <a:chOff x="0" y="0"/>
            <a:chExt cx="13313664" cy="154990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313665" cy="1549908"/>
            </a:xfrm>
            <a:custGeom>
              <a:avLst/>
              <a:gdLst/>
              <a:ahLst/>
              <a:cxnLst/>
              <a:rect r="r" b="b" t="t" l="l"/>
              <a:pathLst>
                <a:path h="1549908" w="13313665">
                  <a:moveTo>
                    <a:pt x="0" y="0"/>
                  </a:moveTo>
                  <a:lnTo>
                    <a:pt x="13313665" y="0"/>
                  </a:lnTo>
                  <a:lnTo>
                    <a:pt x="13313665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375" r="0" b="-11737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13313664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K=20 topics discovered via NMF; 5 major themes interpreted: AI/ML, Data Science, Physics, Bioinformatics, Environmental.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68096" y="5303520"/>
            <a:ext cx="11155680" cy="1133856"/>
            <a:chOff x="0" y="0"/>
            <a:chExt cx="14874240" cy="151180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4874239" cy="1511808"/>
            </a:xfrm>
            <a:custGeom>
              <a:avLst/>
              <a:gdLst/>
              <a:ahLst/>
              <a:cxnLst/>
              <a:rect r="r" b="b" t="t" l="l"/>
              <a:pathLst>
                <a:path h="1511808" w="14874239">
                  <a:moveTo>
                    <a:pt x="0" y="0"/>
                  </a:moveTo>
                  <a:lnTo>
                    <a:pt x="14874239" y="0"/>
                  </a:lnTo>
                  <a:lnTo>
                    <a:pt x="1487423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D2847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50976" y="5522976"/>
            <a:ext cx="658368" cy="658368"/>
            <a:chOff x="0" y="0"/>
            <a:chExt cx="877824" cy="87782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50976" y="5522976"/>
            <a:ext cx="658368" cy="658368"/>
            <a:chOff x="0" y="0"/>
            <a:chExt cx="877824" cy="8778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50976" y="5494401"/>
            <a:ext cx="658368" cy="686943"/>
            <a:chOff x="0" y="0"/>
            <a:chExt cx="877824" cy="91592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77824" cy="915924"/>
            </a:xfrm>
            <a:custGeom>
              <a:avLst/>
              <a:gdLst/>
              <a:ahLst/>
              <a:cxnLst/>
              <a:rect r="r" b="b" t="t" l="l"/>
              <a:pathLst>
                <a:path h="9159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15924"/>
                  </a:lnTo>
                  <a:lnTo>
                    <a:pt x="0" y="915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872" t="0" r="-83872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877824" cy="954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828800" y="5303520"/>
            <a:ext cx="9985248" cy="1133856"/>
            <a:chOff x="0" y="0"/>
            <a:chExt cx="13313664" cy="151180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3313663" cy="1511808"/>
            </a:xfrm>
            <a:custGeom>
              <a:avLst/>
              <a:gdLst/>
              <a:ahLst/>
              <a:cxnLst/>
              <a:rect r="r" b="b" t="t" l="l"/>
              <a:pathLst>
                <a:path h="1511808" w="13313663">
                  <a:moveTo>
                    <a:pt x="0" y="0"/>
                  </a:moveTo>
                  <a:lnTo>
                    <a:pt x="13313663" y="0"/>
                  </a:lnTo>
                  <a:lnTo>
                    <a:pt x="13313663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475" r="0" b="-121474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828800" y="5274945"/>
            <a:ext cx="9985248" cy="1162431"/>
            <a:chOff x="0" y="0"/>
            <a:chExt cx="13313664" cy="154990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3313665" cy="1549908"/>
            </a:xfrm>
            <a:custGeom>
              <a:avLst/>
              <a:gdLst/>
              <a:ahLst/>
              <a:cxnLst/>
              <a:rect r="r" b="b" t="t" l="l"/>
              <a:pathLst>
                <a:path h="1549908" w="13313665">
                  <a:moveTo>
                    <a:pt x="0" y="0"/>
                  </a:moveTo>
                  <a:lnTo>
                    <a:pt x="13313665" y="0"/>
                  </a:lnTo>
                  <a:lnTo>
                    <a:pt x="13313665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375" r="0" b="-11737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3313664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t-SNE visualisation (35K sample) revealed well-separated topic clusters confirming model quality.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768096" y="6656832"/>
            <a:ext cx="11155680" cy="1133856"/>
            <a:chOff x="0" y="0"/>
            <a:chExt cx="14874240" cy="151180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4874239" cy="1511808"/>
            </a:xfrm>
            <a:custGeom>
              <a:avLst/>
              <a:gdLst/>
              <a:ahLst/>
              <a:cxnLst/>
              <a:rect r="r" b="b" t="t" l="l"/>
              <a:pathLst>
                <a:path h="1511808" w="14874239">
                  <a:moveTo>
                    <a:pt x="0" y="0"/>
                  </a:moveTo>
                  <a:lnTo>
                    <a:pt x="14874239" y="0"/>
                  </a:lnTo>
                  <a:lnTo>
                    <a:pt x="1487423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D2847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50976" y="6876288"/>
            <a:ext cx="658368" cy="658368"/>
            <a:chOff x="0" y="0"/>
            <a:chExt cx="877824" cy="87782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950976" y="6876288"/>
            <a:ext cx="658368" cy="658368"/>
            <a:chOff x="0" y="0"/>
            <a:chExt cx="877824" cy="87782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50976" y="6847713"/>
            <a:ext cx="658368" cy="686943"/>
            <a:chOff x="0" y="0"/>
            <a:chExt cx="877824" cy="91592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77824" cy="915924"/>
            </a:xfrm>
            <a:custGeom>
              <a:avLst/>
              <a:gdLst/>
              <a:ahLst/>
              <a:cxnLst/>
              <a:rect r="r" b="b" t="t" l="l"/>
              <a:pathLst>
                <a:path h="9159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15924"/>
                  </a:lnTo>
                  <a:lnTo>
                    <a:pt x="0" y="915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872" t="0" r="-83872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877824" cy="954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828800" y="6656832"/>
            <a:ext cx="9985248" cy="1133856"/>
            <a:chOff x="0" y="0"/>
            <a:chExt cx="13313664" cy="151180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3313663" cy="1511808"/>
            </a:xfrm>
            <a:custGeom>
              <a:avLst/>
              <a:gdLst/>
              <a:ahLst/>
              <a:cxnLst/>
              <a:rect r="r" b="b" t="t" l="l"/>
              <a:pathLst>
                <a:path h="1511808" w="13313663">
                  <a:moveTo>
                    <a:pt x="0" y="0"/>
                  </a:moveTo>
                  <a:lnTo>
                    <a:pt x="13313663" y="0"/>
                  </a:lnTo>
                  <a:lnTo>
                    <a:pt x="13313663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475" r="0" b="-121474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828800" y="6628257"/>
            <a:ext cx="9985248" cy="1162431"/>
            <a:chOff x="0" y="0"/>
            <a:chExt cx="13313664" cy="154990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3313665" cy="1549908"/>
            </a:xfrm>
            <a:custGeom>
              <a:avLst/>
              <a:gdLst/>
              <a:ahLst/>
              <a:cxnLst/>
              <a:rect r="r" b="b" t="t" l="l"/>
              <a:pathLst>
                <a:path h="1549908" w="13313665">
                  <a:moveTo>
                    <a:pt x="0" y="0"/>
                  </a:moveTo>
                  <a:lnTo>
                    <a:pt x="13313665" y="0"/>
                  </a:lnTo>
                  <a:lnTo>
                    <a:pt x="13313665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375" r="0" b="-117375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13313664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Chunked processing (50K/batch) made the full 2.96M-paper dataset feasible on Kaggle RAM constraints.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768096" y="8119872"/>
            <a:ext cx="6400800" cy="621792"/>
            <a:chOff x="0" y="0"/>
            <a:chExt cx="8534400" cy="82905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8534400" cy="829056"/>
            </a:xfrm>
            <a:custGeom>
              <a:avLst/>
              <a:gdLst/>
              <a:ahLst/>
              <a:cxnLst/>
              <a:rect r="r" b="b" t="t" l="l"/>
              <a:pathLst>
                <a:path h="829056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441" r="0" b="-150442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768096" y="8112728"/>
            <a:ext cx="6400800" cy="628936"/>
            <a:chOff x="0" y="0"/>
            <a:chExt cx="8534400" cy="838581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8534400" cy="838581"/>
            </a:xfrm>
            <a:custGeom>
              <a:avLst/>
              <a:gdLst/>
              <a:ahLst/>
              <a:cxnLst/>
              <a:rect r="r" b="b" t="t" l="l"/>
              <a:pathLst>
                <a:path h="838581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38581"/>
                  </a:lnTo>
                  <a:lnTo>
                    <a:pt x="0" y="8385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302" r="0" b="-148302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9525"/>
              <a:ext cx="8534400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F59E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Future Work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768096" y="8851392"/>
            <a:ext cx="3511296" cy="1024128"/>
            <a:chOff x="0" y="0"/>
            <a:chExt cx="4681728" cy="136550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681728" cy="1365504"/>
            </a:xfrm>
            <a:custGeom>
              <a:avLst/>
              <a:gdLst/>
              <a:ahLst/>
              <a:cxnLst/>
              <a:rect r="r" b="b" t="t" l="l"/>
              <a:pathLst>
                <a:path h="1365504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14400" y="8851392"/>
            <a:ext cx="3328416" cy="1024128"/>
            <a:chOff x="0" y="0"/>
            <a:chExt cx="4437888" cy="136550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437888" cy="1365504"/>
            </a:xfrm>
            <a:custGeom>
              <a:avLst/>
              <a:gdLst/>
              <a:ahLst/>
              <a:cxnLst/>
              <a:rect r="r" b="b" t="t" l="l"/>
              <a:pathLst>
                <a:path h="1365504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82" r="0" b="-13282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914400" y="8822817"/>
            <a:ext cx="3328416" cy="1052703"/>
            <a:chOff x="0" y="0"/>
            <a:chExt cx="4437888" cy="1403604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437888" cy="1403604"/>
            </a:xfrm>
            <a:custGeom>
              <a:avLst/>
              <a:gdLst/>
              <a:ahLst/>
              <a:cxnLst/>
              <a:rect r="r" b="b" t="t" l="l"/>
              <a:pathLst>
                <a:path h="1403604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403604"/>
                  </a:lnTo>
                  <a:lnTo>
                    <a:pt x="0" y="1403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07" r="0" b="-11607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4437888" cy="144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BERTopic / sentence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transformers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4572000" y="8851392"/>
            <a:ext cx="3511296" cy="1024128"/>
            <a:chOff x="0" y="0"/>
            <a:chExt cx="4681728" cy="1365504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681728" cy="1365504"/>
            </a:xfrm>
            <a:custGeom>
              <a:avLst/>
              <a:gdLst/>
              <a:ahLst/>
              <a:cxnLst/>
              <a:rect r="r" b="b" t="t" l="l"/>
              <a:pathLst>
                <a:path h="1365504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718304" y="8851392"/>
            <a:ext cx="3328416" cy="1024128"/>
            <a:chOff x="0" y="0"/>
            <a:chExt cx="4437888" cy="1365504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437888" cy="1365504"/>
            </a:xfrm>
            <a:custGeom>
              <a:avLst/>
              <a:gdLst/>
              <a:ahLst/>
              <a:cxnLst/>
              <a:rect r="r" b="b" t="t" l="l"/>
              <a:pathLst>
                <a:path h="1365504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82" r="0" b="-13282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4718304" y="8822817"/>
            <a:ext cx="3328416" cy="1052703"/>
            <a:chOff x="0" y="0"/>
            <a:chExt cx="4437888" cy="140360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437888" cy="1403604"/>
            </a:xfrm>
            <a:custGeom>
              <a:avLst/>
              <a:gdLst/>
              <a:ahLst/>
              <a:cxnLst/>
              <a:rect r="r" b="b" t="t" l="l"/>
              <a:pathLst>
                <a:path h="1403604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403604"/>
                  </a:lnTo>
                  <a:lnTo>
                    <a:pt x="0" y="1403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07" r="0" b="-11607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4437888" cy="144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Dynamic topics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across year bands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8375904" y="8851392"/>
            <a:ext cx="3511296" cy="1024128"/>
            <a:chOff x="0" y="0"/>
            <a:chExt cx="4681728" cy="136550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681728" cy="1365504"/>
            </a:xfrm>
            <a:custGeom>
              <a:avLst/>
              <a:gdLst/>
              <a:ahLst/>
              <a:cxnLst/>
              <a:rect r="r" b="b" t="t" l="l"/>
              <a:pathLst>
                <a:path h="1365504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8522208" y="8851392"/>
            <a:ext cx="3328416" cy="1024128"/>
            <a:chOff x="0" y="0"/>
            <a:chExt cx="4437888" cy="1365504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4437888" cy="1365504"/>
            </a:xfrm>
            <a:custGeom>
              <a:avLst/>
              <a:gdLst/>
              <a:ahLst/>
              <a:cxnLst/>
              <a:rect r="r" b="b" t="t" l="l"/>
              <a:pathLst>
                <a:path h="1365504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82" r="0" b="-13282"/>
              </a:stretch>
            </a:blip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8522208" y="8822817"/>
            <a:ext cx="3328416" cy="1052703"/>
            <a:chOff x="0" y="0"/>
            <a:chExt cx="4437888" cy="1403604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4437888" cy="1403604"/>
            </a:xfrm>
            <a:custGeom>
              <a:avLst/>
              <a:gdLst/>
              <a:ahLst/>
              <a:cxnLst/>
              <a:rect r="r" b="b" t="t" l="l"/>
              <a:pathLst>
                <a:path h="1403604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403604"/>
                  </a:lnTo>
                  <a:lnTo>
                    <a:pt x="0" y="1403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07" r="0" b="-11607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4437888" cy="144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abstract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search web app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2984480" y="950976"/>
            <a:ext cx="4974336" cy="658368"/>
            <a:chOff x="0" y="0"/>
            <a:chExt cx="6632448" cy="877824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6632448" cy="877824"/>
            </a:xfrm>
            <a:custGeom>
              <a:avLst/>
              <a:gdLst/>
              <a:ahLst/>
              <a:cxnLst/>
              <a:rect r="r" b="b" t="t" l="l"/>
              <a:pathLst>
                <a:path h="87782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118" r="0" b="-97118"/>
              </a:stretch>
            </a:blip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2984480" y="936688"/>
            <a:ext cx="4974336" cy="672656"/>
            <a:chOff x="0" y="0"/>
            <a:chExt cx="6632448" cy="89687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6632448" cy="896874"/>
            </a:xfrm>
            <a:custGeom>
              <a:avLst/>
              <a:gdLst/>
              <a:ahLst/>
              <a:cxnLst/>
              <a:rect r="r" b="b" t="t" l="l"/>
              <a:pathLst>
                <a:path h="89687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896874"/>
                  </a:lnTo>
                  <a:lnTo>
                    <a:pt x="0" y="8968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093" r="0" b="-94093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19050"/>
              <a:ext cx="6632448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5EEAD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Run Order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2984480" y="1938528"/>
            <a:ext cx="4974336" cy="1389888"/>
            <a:chOff x="0" y="0"/>
            <a:chExt cx="6632448" cy="1853184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632448" cy="1853184"/>
            </a:xfrm>
            <a:custGeom>
              <a:avLst/>
              <a:gdLst/>
              <a:ahLst/>
              <a:cxnLst/>
              <a:rect r="r" b="b" t="t" l="l"/>
              <a:pathLst>
                <a:path h="185318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12984480" y="1938528"/>
            <a:ext cx="4974336" cy="1389888"/>
            <a:chOff x="0" y="0"/>
            <a:chExt cx="6632448" cy="1853184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6632448" cy="1853184"/>
            </a:xfrm>
            <a:custGeom>
              <a:avLst/>
              <a:gdLst/>
              <a:ahLst/>
              <a:cxnLst/>
              <a:rect r="r" b="b" t="t" l="l"/>
              <a:pathLst>
                <a:path h="185318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87" r="0" b="-19687"/>
              </a:stretch>
            </a:blip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12984480" y="1909953"/>
            <a:ext cx="4974336" cy="1418463"/>
            <a:chOff x="0" y="0"/>
            <a:chExt cx="6632448" cy="1891284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632448" cy="1891284"/>
            </a:xfrm>
            <a:custGeom>
              <a:avLst/>
              <a:gdLst/>
              <a:ahLst/>
              <a:cxnLst/>
              <a:rect r="r" b="b" t="t" l="l"/>
              <a:pathLst>
                <a:path h="189128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91284"/>
                  </a:lnTo>
                  <a:lnTo>
                    <a:pt x="0" y="18912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31" r="0" b="-18331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38100"/>
              <a:ext cx="6632448" cy="1929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Preprocessing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(spaCy)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5452598" y="3328416"/>
            <a:ext cx="38100" cy="219456"/>
            <a:chOff x="0" y="0"/>
            <a:chExt cx="50800" cy="292608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50800" cy="292608"/>
            </a:xfrm>
            <a:custGeom>
              <a:avLst/>
              <a:gdLst/>
              <a:ahLst/>
              <a:cxnLst/>
              <a:rect r="r" b="b" t="t" l="l"/>
              <a:pathLst>
                <a:path h="292608" w="50800">
                  <a:moveTo>
                    <a:pt x="50800" y="0"/>
                  </a:moveTo>
                  <a:lnTo>
                    <a:pt x="50800" y="292608"/>
                  </a:lnTo>
                  <a:lnTo>
                    <a:pt x="0" y="292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2984480" y="3547872"/>
            <a:ext cx="4974336" cy="1389888"/>
            <a:chOff x="0" y="0"/>
            <a:chExt cx="6632448" cy="1853184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632448" cy="1853184"/>
            </a:xfrm>
            <a:custGeom>
              <a:avLst/>
              <a:gdLst/>
              <a:ahLst/>
              <a:cxnLst/>
              <a:rect r="r" b="b" t="t" l="l"/>
              <a:pathLst>
                <a:path h="185318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12984480" y="3547872"/>
            <a:ext cx="4974336" cy="1389888"/>
            <a:chOff x="0" y="0"/>
            <a:chExt cx="6632448" cy="1853184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6632448" cy="1853184"/>
            </a:xfrm>
            <a:custGeom>
              <a:avLst/>
              <a:gdLst/>
              <a:ahLst/>
              <a:cxnLst/>
              <a:rect r="r" b="b" t="t" l="l"/>
              <a:pathLst>
                <a:path h="185318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87" r="0" b="-19687"/>
              </a:stretch>
            </a:blip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12984480" y="3519297"/>
            <a:ext cx="4974336" cy="1418463"/>
            <a:chOff x="0" y="0"/>
            <a:chExt cx="6632448" cy="1891284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632448" cy="1891284"/>
            </a:xfrm>
            <a:custGeom>
              <a:avLst/>
              <a:gdLst/>
              <a:ahLst/>
              <a:cxnLst/>
              <a:rect r="r" b="b" t="t" l="l"/>
              <a:pathLst>
                <a:path h="189128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91284"/>
                  </a:lnTo>
                  <a:lnTo>
                    <a:pt x="0" y="18912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31" r="0" b="-18331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38100"/>
              <a:ext cx="6632448" cy="1929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TF-IDF +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Word2Vec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15452598" y="4937760"/>
            <a:ext cx="38100" cy="219456"/>
            <a:chOff x="0" y="0"/>
            <a:chExt cx="50800" cy="292608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50800" cy="292608"/>
            </a:xfrm>
            <a:custGeom>
              <a:avLst/>
              <a:gdLst/>
              <a:ahLst/>
              <a:cxnLst/>
              <a:rect r="r" b="b" t="t" l="l"/>
              <a:pathLst>
                <a:path h="292608" w="50800">
                  <a:moveTo>
                    <a:pt x="50800" y="0"/>
                  </a:moveTo>
                  <a:lnTo>
                    <a:pt x="50800" y="292608"/>
                  </a:lnTo>
                  <a:lnTo>
                    <a:pt x="0" y="292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2984480" y="5157216"/>
            <a:ext cx="4974336" cy="1389888"/>
            <a:chOff x="0" y="0"/>
            <a:chExt cx="6632448" cy="1853184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6632448" cy="1853184"/>
            </a:xfrm>
            <a:custGeom>
              <a:avLst/>
              <a:gdLst/>
              <a:ahLst/>
              <a:cxnLst/>
              <a:rect r="r" b="b" t="t" l="l"/>
              <a:pathLst>
                <a:path h="185318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2984480" y="5157216"/>
            <a:ext cx="4974336" cy="1389888"/>
            <a:chOff x="0" y="0"/>
            <a:chExt cx="6632448" cy="1853184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6632448" cy="1853184"/>
            </a:xfrm>
            <a:custGeom>
              <a:avLst/>
              <a:gdLst/>
              <a:ahLst/>
              <a:cxnLst/>
              <a:rect r="r" b="b" t="t" l="l"/>
              <a:pathLst>
                <a:path h="185318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87" r="0" b="-19687"/>
              </a:stretch>
            </a:blip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12984480" y="5128641"/>
            <a:ext cx="4974336" cy="1418463"/>
            <a:chOff x="0" y="0"/>
            <a:chExt cx="6632448" cy="1891284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6632448" cy="1891284"/>
            </a:xfrm>
            <a:custGeom>
              <a:avLst/>
              <a:gdLst/>
              <a:ahLst/>
              <a:cxnLst/>
              <a:rect r="r" b="b" t="t" l="l"/>
              <a:pathLst>
                <a:path h="189128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91284"/>
                  </a:lnTo>
                  <a:lnTo>
                    <a:pt x="0" y="18912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31" r="0" b="-18331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6632448" cy="1929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NMF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K=20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5452598" y="6547104"/>
            <a:ext cx="38100" cy="219456"/>
            <a:chOff x="0" y="0"/>
            <a:chExt cx="50800" cy="292608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50800" cy="292608"/>
            </a:xfrm>
            <a:custGeom>
              <a:avLst/>
              <a:gdLst/>
              <a:ahLst/>
              <a:cxnLst/>
              <a:rect r="r" b="b" t="t" l="l"/>
              <a:pathLst>
                <a:path h="292608" w="50800">
                  <a:moveTo>
                    <a:pt x="50800" y="0"/>
                  </a:moveTo>
                  <a:lnTo>
                    <a:pt x="50800" y="292608"/>
                  </a:lnTo>
                  <a:lnTo>
                    <a:pt x="0" y="292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2984480" y="6766560"/>
            <a:ext cx="4974336" cy="1389888"/>
            <a:chOff x="0" y="0"/>
            <a:chExt cx="6632448" cy="1853184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632448" cy="1853184"/>
            </a:xfrm>
            <a:custGeom>
              <a:avLst/>
              <a:gdLst/>
              <a:ahLst/>
              <a:cxnLst/>
              <a:rect r="r" b="b" t="t" l="l"/>
              <a:pathLst>
                <a:path h="185318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2984480" y="6766560"/>
            <a:ext cx="4974336" cy="1389888"/>
            <a:chOff x="0" y="0"/>
            <a:chExt cx="6632448" cy="1853184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632448" cy="1853184"/>
            </a:xfrm>
            <a:custGeom>
              <a:avLst/>
              <a:gdLst/>
              <a:ahLst/>
              <a:cxnLst/>
              <a:rect r="r" b="b" t="t" l="l"/>
              <a:pathLst>
                <a:path h="185318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87" r="0" b="-19687"/>
              </a:stretch>
            </a:blip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2984480" y="6737985"/>
            <a:ext cx="4974336" cy="1418463"/>
            <a:chOff x="0" y="0"/>
            <a:chExt cx="6632448" cy="1891284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6632448" cy="1891284"/>
            </a:xfrm>
            <a:custGeom>
              <a:avLst/>
              <a:gdLst/>
              <a:ahLst/>
              <a:cxnLst/>
              <a:rect r="r" b="b" t="t" l="l"/>
              <a:pathLst>
                <a:path h="189128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91284"/>
                  </a:lnTo>
                  <a:lnTo>
                    <a:pt x="0" y="18912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31" r="0" b="-18331"/>
              </a:stretch>
            </a:blipFill>
          </p:spPr>
        </p:sp>
        <p:sp>
          <p:nvSpPr>
            <p:cNvPr name="TextBox 170" id="170"/>
            <p:cNvSpPr txBox="true"/>
            <p:nvPr/>
          </p:nvSpPr>
          <p:spPr>
            <a:xfrm>
              <a:off x="0" y="-38100"/>
              <a:ext cx="6632448" cy="1929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t-SNE +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pyLDAvis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15452598" y="8156448"/>
            <a:ext cx="38100" cy="219456"/>
            <a:chOff x="0" y="0"/>
            <a:chExt cx="50800" cy="292608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50800" cy="292608"/>
            </a:xfrm>
            <a:custGeom>
              <a:avLst/>
              <a:gdLst/>
              <a:ahLst/>
              <a:cxnLst/>
              <a:rect r="r" b="b" t="t" l="l"/>
              <a:pathLst>
                <a:path h="292608" w="50800">
                  <a:moveTo>
                    <a:pt x="50800" y="0"/>
                  </a:moveTo>
                  <a:lnTo>
                    <a:pt x="50800" y="292608"/>
                  </a:lnTo>
                  <a:lnTo>
                    <a:pt x="0" y="292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2984480" y="8375904"/>
            <a:ext cx="4974336" cy="1389888"/>
            <a:chOff x="0" y="0"/>
            <a:chExt cx="6632448" cy="1853184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632448" cy="1853184"/>
            </a:xfrm>
            <a:custGeom>
              <a:avLst/>
              <a:gdLst/>
              <a:ahLst/>
              <a:cxnLst/>
              <a:rect r="r" b="b" t="t" l="l"/>
              <a:pathLst>
                <a:path h="185318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2984480" y="8375904"/>
            <a:ext cx="4974336" cy="1389888"/>
            <a:chOff x="0" y="0"/>
            <a:chExt cx="6632448" cy="1853184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6632448" cy="1853184"/>
            </a:xfrm>
            <a:custGeom>
              <a:avLst/>
              <a:gdLst/>
              <a:ahLst/>
              <a:cxnLst/>
              <a:rect r="r" b="b" t="t" l="l"/>
              <a:pathLst>
                <a:path h="185318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87" r="0" b="-19687"/>
              </a:stretch>
            </a:blip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2984480" y="8347329"/>
            <a:ext cx="4974336" cy="1418463"/>
            <a:chOff x="0" y="0"/>
            <a:chExt cx="6632448" cy="1891284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6632448" cy="1891284"/>
            </a:xfrm>
            <a:custGeom>
              <a:avLst/>
              <a:gdLst/>
              <a:ahLst/>
              <a:cxnLst/>
              <a:rect r="r" b="b" t="t" l="l"/>
              <a:pathLst>
                <a:path h="189128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91284"/>
                  </a:lnTo>
                  <a:lnTo>
                    <a:pt x="0" y="18912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31" r="0" b="-18331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-38100"/>
              <a:ext cx="6632448" cy="1929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Interpret &amp;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Ethics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DAHEO8usuPw</dc:identifier>
  <dcterms:modified xsi:type="dcterms:W3CDTF">2011-08-01T06:04:30Z</dcterms:modified>
  <cp:revision>1</cp:revision>
  <dc:title>ASSIGNMENT 1 · USL LAB</dc:title>
</cp:coreProperties>
</file>